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5"/>
  </p:notesMasterIdLst>
  <p:sldIdLst>
    <p:sldId id="256" r:id="rId2"/>
    <p:sldId id="262" r:id="rId3"/>
    <p:sldId id="265" r:id="rId4"/>
    <p:sldId id="264" r:id="rId5"/>
    <p:sldId id="263" r:id="rId6"/>
    <p:sldId id="270" r:id="rId7"/>
    <p:sldId id="266" r:id="rId8"/>
    <p:sldId id="267" r:id="rId9"/>
    <p:sldId id="268" r:id="rId10"/>
    <p:sldId id="269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5" autoAdjust="0"/>
    <p:restoredTop sz="78486" autoAdjust="0"/>
  </p:normalViewPr>
  <p:slideViewPr>
    <p:cSldViewPr snapToGrid="0">
      <p:cViewPr varScale="1">
        <p:scale>
          <a:sx n="94" d="100"/>
          <a:sy n="94" d="100"/>
        </p:scale>
        <p:origin x="64" y="81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AB516-F1BD-4C60-A727-C1DFF1D7A85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4DE84-EE1D-4C91-8630-098DA0158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03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0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EEB2-1D7D-8ED4-541A-6A95DEE8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505A9-5BB6-DA75-245A-C57290D4F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AE870-FB89-85A3-424F-E5E6C173B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1FB9-DD68-F69E-01E3-AC54A99FA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84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8646-CA00-DA46-4400-C210C9DC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B3C36-C446-9C0D-11A0-B22106DD5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211B1-53A5-ABBB-56CD-C5258A8FB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067D1-6ACD-3AC3-41F5-6C22C8868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9A2C-FB95-22D8-F7DC-5C463431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CF5AD-F07F-D0D5-314C-17ADA7652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4BD09-AB9A-936F-A73E-04BE17D23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9303-AD9B-D511-D008-C58DF4044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5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5197-99F6-472F-88C8-50452154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B5963-C32E-FCA0-4945-5930FA59D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33215-FA30-E553-3772-C5BECA61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E2017-5603-19C8-CD2E-A5669E366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7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4DE84-EE1D-4C91-8630-098DA0158C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2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8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6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8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0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5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3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5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2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7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2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018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1D33-82DC-6B9C-52E6-7730E27E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Integracija sistema za </a:t>
            </a:r>
            <a:r>
              <a:rPr lang="sr-Latn-RS" dirty="0" err="1"/>
              <a:t>striming</a:t>
            </a:r>
            <a:r>
              <a:rPr lang="sr-Latn-RS" dirty="0"/>
              <a:t> podataka i baze podataka(</a:t>
            </a:r>
            <a:r>
              <a:rPr lang="sr-Latn-RS" dirty="0" err="1"/>
              <a:t>kafka</a:t>
            </a:r>
            <a:r>
              <a:rPr lang="sr-Latn-RS" dirty="0"/>
              <a:t> i </a:t>
            </a:r>
            <a:r>
              <a:rPr lang="sr-Latn-RS" dirty="0" err="1"/>
              <a:t>clickhouse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69B3-CA98-777E-92DE-71382F42A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Seminarski</a:t>
            </a:r>
            <a:r>
              <a:rPr lang="en-US" dirty="0"/>
              <a:t> rad – </a:t>
            </a:r>
            <a:r>
              <a:rPr lang="en-US" dirty="0" err="1"/>
              <a:t>Sistemi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3CD52F-7C4E-5FF0-B62D-199E26E22A71}"/>
              </a:ext>
            </a:extLst>
          </p:cNvPr>
          <p:cNvSpPr txBox="1">
            <a:spLocks/>
          </p:cNvSpPr>
          <p:nvPr/>
        </p:nvSpPr>
        <p:spPr>
          <a:xfrm>
            <a:off x="581191" y="566934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Student</a:t>
            </a:r>
          </a:p>
          <a:p>
            <a:r>
              <a:rPr lang="en-US" dirty="0">
                <a:solidFill>
                  <a:schemeClr val="bg1"/>
                </a:solidFill>
              </a:rPr>
              <a:t>Anja Tonsa Milovanović, br. ind. 1815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16361A-7FCB-EEFD-4F40-B969A94C523E}"/>
              </a:ext>
            </a:extLst>
          </p:cNvPr>
          <p:cNvSpPr txBox="1">
            <a:spLocks/>
          </p:cNvSpPr>
          <p:nvPr/>
        </p:nvSpPr>
        <p:spPr>
          <a:xfrm>
            <a:off x="8102379" y="5669340"/>
            <a:ext cx="6057858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MENtor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Prof. dr Aleksandar </a:t>
            </a:r>
            <a:r>
              <a:rPr lang="en-US" dirty="0" err="1">
                <a:solidFill>
                  <a:schemeClr val="bg1"/>
                </a:solidFill>
              </a:rPr>
              <a:t>Stanimirović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7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28" y="1804939"/>
            <a:ext cx="11272685" cy="4419754"/>
          </a:xfrm>
        </p:spPr>
        <p:txBody>
          <a:bodyPr>
            <a:normAutofit/>
          </a:bodyPr>
          <a:lstStyle/>
          <a:p>
            <a:pPr algn="just"/>
            <a:r>
              <a:rPr lang="sr-Latn-RS" dirty="0" err="1"/>
              <a:t>Apache</a:t>
            </a:r>
            <a:r>
              <a:rPr lang="sr-Latn-RS" dirty="0"/>
              <a:t> Kafka je d</a:t>
            </a:r>
            <a:r>
              <a:rPr lang="en-US" dirty="0" err="1"/>
              <a:t>istribuirana</a:t>
            </a:r>
            <a:r>
              <a:rPr lang="en-US" dirty="0"/>
              <a:t> open-source </a:t>
            </a: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strimovanje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sr-Latn-RS" dirty="0"/>
              <a:t>.</a:t>
            </a:r>
            <a:r>
              <a:rPr lang="en-US" dirty="0"/>
              <a:t> </a:t>
            </a:r>
            <a:r>
              <a:rPr lang="sr-Latn-RS" dirty="0" err="1"/>
              <a:t>Korisiti</a:t>
            </a:r>
            <a:r>
              <a:rPr lang="sr-Latn-RS" dirty="0"/>
              <a:t> se</a:t>
            </a:r>
            <a:r>
              <a:rPr lang="en-US" dirty="0"/>
              <a:t> za </a:t>
            </a:r>
            <a:r>
              <a:rPr lang="en-US" dirty="0" err="1"/>
              <a:t>pouzdano</a:t>
            </a:r>
            <a:r>
              <a:rPr lang="en-US" dirty="0"/>
              <a:t> </a:t>
            </a:r>
            <a:r>
              <a:rPr lang="en-US" dirty="0" err="1"/>
              <a:t>prikupljanje</a:t>
            </a:r>
            <a:r>
              <a:rPr lang="en-US" dirty="0"/>
              <a:t>, </a:t>
            </a:r>
            <a:r>
              <a:rPr lang="sr-Latn-RS" dirty="0"/>
              <a:t>privremeno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prosleđivanje</a:t>
            </a:r>
            <a:r>
              <a:rPr lang="en-US" dirty="0"/>
              <a:t> </a:t>
            </a:r>
            <a:r>
              <a:rPr lang="en-US" dirty="0" err="1"/>
              <a:t>tokova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sr-Latn-RS" dirty="0"/>
              <a:t>. </a:t>
            </a:r>
          </a:p>
          <a:p>
            <a:pPr algn="just"/>
            <a:r>
              <a:rPr lang="sr-Latn-RS" dirty="0"/>
              <a:t>Može se definisati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distribuirani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za </a:t>
            </a:r>
            <a:r>
              <a:rPr lang="en-US" dirty="0" err="1"/>
              <a:t>razmenu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(</a:t>
            </a:r>
            <a:r>
              <a:rPr lang="en-US" i="1" dirty="0"/>
              <a:t>message broker</a:t>
            </a:r>
            <a:r>
              <a:rPr lang="en-US" dirty="0"/>
              <a:t>)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tokovima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 (</a:t>
            </a:r>
            <a:r>
              <a:rPr lang="en-US" i="1" dirty="0"/>
              <a:t>event streaming platform</a:t>
            </a:r>
            <a:r>
              <a:rPr lang="en-US" dirty="0"/>
              <a:t>).</a:t>
            </a:r>
            <a:endParaRPr lang="sr-Latn-RS" dirty="0"/>
          </a:p>
          <a:p>
            <a:pPr algn="just"/>
            <a:r>
              <a:rPr lang="en-US" dirty="0"/>
              <a:t>Kafka se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centralni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u </a:t>
            </a:r>
            <a:r>
              <a:rPr lang="en-US" dirty="0" err="1"/>
              <a:t>arhitekturama</a:t>
            </a:r>
            <a:r>
              <a:rPr lang="en-US" dirty="0"/>
              <a:t> za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485B-77AA-1E97-E7A2-505C6519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5386-F8DE-71DA-E867-B872B92C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102B-4CC1-90AC-4341-5394138ED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029615" cy="4914208"/>
          </a:xfrm>
        </p:spPr>
        <p:txBody>
          <a:bodyPr>
            <a:normAutofit/>
          </a:bodyPr>
          <a:lstStyle/>
          <a:p>
            <a:pPr algn="just"/>
            <a:r>
              <a:rPr lang="sr-Latn-RS" dirty="0"/>
              <a:t>Osnovni koncepti:	</a:t>
            </a:r>
          </a:p>
          <a:p>
            <a:pPr lvl="1" algn="just"/>
            <a:r>
              <a:rPr lang="en-US" dirty="0"/>
              <a:t>Topic </a:t>
            </a:r>
            <a:r>
              <a:rPr lang="sr-Latn-RS" dirty="0"/>
              <a:t>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imenovani</a:t>
            </a:r>
            <a:r>
              <a:rPr lang="en-US" dirty="0"/>
              <a:t> </a:t>
            </a:r>
            <a:r>
              <a:rPr lang="en-US" dirty="0" err="1"/>
              <a:t>kanal</a:t>
            </a:r>
            <a:r>
              <a:rPr lang="sr-Latn-RS" dirty="0"/>
              <a:t> u koji</a:t>
            </a:r>
            <a:r>
              <a:rPr lang="en-US" dirty="0"/>
              <a:t> producer </a:t>
            </a:r>
            <a:r>
              <a:rPr lang="sr-Latn-RS" dirty="0"/>
              <a:t>upisuje poruke</a:t>
            </a:r>
            <a:r>
              <a:rPr lang="en-US" dirty="0"/>
              <a:t>, </a:t>
            </a:r>
            <a:r>
              <a:rPr lang="sr-Latn-RS" dirty="0"/>
              <a:t> a odakle ih </a:t>
            </a:r>
            <a:r>
              <a:rPr lang="en-US" dirty="0"/>
              <a:t>consumer </a:t>
            </a:r>
            <a:r>
              <a:rPr lang="en-US" dirty="0" err="1"/>
              <a:t>čita</a:t>
            </a:r>
            <a:r>
              <a:rPr lang="sr-Latn-RS" dirty="0"/>
              <a:t>.</a:t>
            </a:r>
          </a:p>
          <a:p>
            <a:pPr lvl="1" algn="just"/>
            <a:r>
              <a:rPr lang="en-US" dirty="0" err="1"/>
              <a:t>Particij</a:t>
            </a:r>
            <a:r>
              <a:rPr lang="sr-Latn-RS" dirty="0"/>
              <a:t>a–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osnovn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jedinic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paralelizma</a:t>
            </a:r>
            <a:r>
              <a:rPr lang="en-US" dirty="0"/>
              <a:t>,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horizontalno</a:t>
            </a:r>
            <a:r>
              <a:rPr lang="en-US" dirty="0"/>
              <a:t> </a:t>
            </a:r>
            <a:r>
              <a:rPr lang="en-US" dirty="0" err="1"/>
              <a:t>skaliranje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lvl="1" algn="just"/>
            <a:r>
              <a:rPr lang="en-US" dirty="0"/>
              <a:t>Offset </a:t>
            </a:r>
            <a:r>
              <a:rPr lang="sr-Latn-RS" dirty="0"/>
              <a:t>–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 err="1"/>
              <a:t>jedinstveni</a:t>
            </a:r>
            <a:r>
              <a:rPr lang="en-US" dirty="0"/>
              <a:t> </a:t>
            </a:r>
            <a:r>
              <a:rPr lang="en-US" dirty="0" err="1"/>
              <a:t>redni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particije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algn="just"/>
            <a:r>
              <a:rPr lang="pl-PL" dirty="0"/>
              <a:t>Producer (proizvođač) i consumer (potrošač) rade nezavisno, tako da se time postiže fleksibilnost i skalabilnost sistema.</a:t>
            </a:r>
          </a:p>
          <a:p>
            <a:pPr algn="just"/>
            <a:r>
              <a:rPr lang="en-US" dirty="0"/>
              <a:t>Kafka </a:t>
            </a:r>
            <a:r>
              <a:rPr lang="en-US" dirty="0" err="1"/>
              <a:t>klaster</a:t>
            </a:r>
            <a:r>
              <a:rPr lang="en-US" dirty="0"/>
              <a:t> </a:t>
            </a:r>
            <a:r>
              <a:rPr lang="en-US" dirty="0" err="1"/>
              <a:t>sastoji</a:t>
            </a:r>
            <a:r>
              <a:rPr lang="en-US" dirty="0"/>
              <a:t> se od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i="1" dirty="0"/>
              <a:t>broker</a:t>
            </a:r>
            <a:r>
              <a:rPr lang="en-US" dirty="0"/>
              <a:t>-a,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zaduženih</a:t>
            </a:r>
            <a:r>
              <a:rPr lang="en-US" dirty="0"/>
              <a:t> za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Potrošači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organizovani</a:t>
            </a:r>
            <a:r>
              <a:rPr lang="en-US" dirty="0"/>
              <a:t> u </a:t>
            </a:r>
            <a:r>
              <a:rPr lang="en-US" i="1" dirty="0"/>
              <a:t>consumer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,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čemu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član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obrađuje</a:t>
            </a:r>
            <a:r>
              <a:rPr lang="en-US" dirty="0"/>
              <a:t> deo </a:t>
            </a:r>
            <a:r>
              <a:rPr lang="en-US" dirty="0" err="1"/>
              <a:t>particija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i="1" dirty="0"/>
              <a:t>topic</a:t>
            </a:r>
            <a:r>
              <a:rPr lang="en-US" dirty="0"/>
              <a:t>-a.</a:t>
            </a:r>
            <a:endParaRPr lang="sr-Latn-R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isporuke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At most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izgubiti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se </a:t>
            </a:r>
            <a:r>
              <a:rPr lang="en-US" dirty="0" err="1"/>
              <a:t>neće</a:t>
            </a:r>
            <a:r>
              <a:rPr lang="en-US" dirty="0"/>
              <a:t> </a:t>
            </a:r>
            <a:r>
              <a:rPr lang="en-US" dirty="0" err="1"/>
              <a:t>obraditi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puta.</a:t>
            </a:r>
          </a:p>
          <a:p>
            <a:pPr lvl="1"/>
            <a:r>
              <a:rPr lang="en-US" i="1" dirty="0"/>
              <a:t>At least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sigurno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isporučena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doći</a:t>
            </a:r>
            <a:r>
              <a:rPr lang="en-US" dirty="0"/>
              <a:t> do </a:t>
            </a:r>
            <a:r>
              <a:rPr lang="en-US" dirty="0" err="1"/>
              <a:t>dupliranja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Exactly once</a:t>
            </a:r>
            <a:r>
              <a:rPr lang="en-US" dirty="0"/>
              <a:t> – </a:t>
            </a:r>
            <a:r>
              <a:rPr lang="en-US" dirty="0" err="1"/>
              <a:t>poruka</a:t>
            </a:r>
            <a:r>
              <a:rPr lang="en-US" dirty="0"/>
              <a:t> se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mehanizme</a:t>
            </a:r>
            <a:r>
              <a:rPr lang="en-US" dirty="0"/>
              <a:t> </a:t>
            </a:r>
            <a:r>
              <a:rPr lang="en-US" dirty="0" err="1"/>
              <a:t>koordinacije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kontrole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.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67092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8713-7B05-9CF3-07DE-5A411C6B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BA2C-3A41-4009-86ED-16529146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Clickhouse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E657-4B0A-47E1-CC59-2CF8F946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299779" cy="3678303"/>
          </a:xfrm>
        </p:spPr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je </a:t>
            </a:r>
            <a:r>
              <a:rPr lang="en-US" dirty="0" err="1"/>
              <a:t>distribuirana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otvorenog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orijentisana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,</a:t>
            </a:r>
            <a:r>
              <a:rPr lang="sr-Latn-RS" dirty="0"/>
              <a:t> razvijena </a:t>
            </a:r>
            <a:r>
              <a:rPr lang="en-US" dirty="0"/>
              <a:t>za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brze</a:t>
            </a:r>
            <a:r>
              <a:rPr lang="en-US" dirty="0"/>
              <a:t> </a:t>
            </a:r>
            <a:r>
              <a:rPr lang="en-US" dirty="0" err="1"/>
              <a:t>analitičke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količina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princip</a:t>
            </a:r>
            <a:r>
              <a:rPr lang="en-US" dirty="0"/>
              <a:t> rada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skladištenju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po </a:t>
            </a:r>
            <a:r>
              <a:rPr lang="en-US" dirty="0" err="1"/>
              <a:t>kolonama</a:t>
            </a:r>
            <a:r>
              <a:rPr lang="en-US" dirty="0"/>
              <a:t>, ne po </a:t>
            </a:r>
            <a:r>
              <a:rPr lang="en-US" dirty="0" err="1"/>
              <a:t>redovima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u </a:t>
            </a:r>
            <a:r>
              <a:rPr lang="en-US" dirty="0" err="1"/>
              <a:t>tradicionalnim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familija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-u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MergeTree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-u,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efikasno</a:t>
            </a:r>
            <a:r>
              <a:rPr lang="en-US" dirty="0"/>
              <a:t> </a:t>
            </a:r>
            <a:r>
              <a:rPr lang="en-US" dirty="0" err="1"/>
              <a:t>skladištenje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indeksiranje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sr-Latn-RS" dirty="0"/>
              <a:t>, ali pored </a:t>
            </a:r>
            <a:r>
              <a:rPr lang="en-US" dirty="0" err="1"/>
              <a:t>poseduje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tipove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-a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specijalizovani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scenarije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 za </a:t>
            </a:r>
            <a:r>
              <a:rPr lang="en-US" dirty="0" err="1"/>
              <a:t>direktnu</a:t>
            </a:r>
            <a:r>
              <a:rPr lang="en-US" dirty="0"/>
              <a:t> </a:t>
            </a:r>
            <a:r>
              <a:rPr lang="en-US" dirty="0" err="1"/>
              <a:t>integraciju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striming</a:t>
            </a:r>
            <a:r>
              <a:rPr lang="en-US" dirty="0"/>
              <a:t> </a:t>
            </a:r>
            <a:r>
              <a:rPr lang="en-US" dirty="0" err="1"/>
              <a:t>sistemima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svojoj</a:t>
            </a:r>
            <a:r>
              <a:rPr lang="en-US" dirty="0"/>
              <a:t> </a:t>
            </a:r>
            <a:r>
              <a:rPr lang="en-US" dirty="0" err="1"/>
              <a:t>sposobnosti</a:t>
            </a:r>
            <a:r>
              <a:rPr lang="en-US" dirty="0"/>
              <a:t> da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agregacione</a:t>
            </a:r>
            <a:r>
              <a:rPr lang="en-US" dirty="0"/>
              <a:t> </a:t>
            </a:r>
            <a:r>
              <a:rPr lang="en-US" dirty="0" err="1"/>
              <a:t>upite</a:t>
            </a:r>
            <a:r>
              <a:rPr lang="en-US" dirty="0"/>
              <a:t>, </a:t>
            </a:r>
            <a:r>
              <a:rPr lang="en-US" dirty="0" err="1"/>
              <a:t>ClickHouse</a:t>
            </a:r>
            <a:r>
              <a:rPr lang="en-US" dirty="0"/>
              <a:t>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pogodan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za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koji </a:t>
            </a:r>
            <a:r>
              <a:rPr lang="en-US" dirty="0" err="1"/>
              <a:t>dolaze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sr-Latn-RS" dirty="0" err="1"/>
              <a:t>striming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omogućiti</a:t>
            </a:r>
            <a:r>
              <a:rPr lang="en-US" dirty="0"/>
              <a:t> </a:t>
            </a:r>
            <a:r>
              <a:rPr lang="en-US" dirty="0" err="1"/>
              <a:t>brz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trenutno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velikog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. U </a:t>
            </a:r>
            <a:r>
              <a:rPr lang="en-US" dirty="0" err="1"/>
              <a:t>takvim</a:t>
            </a:r>
            <a:r>
              <a:rPr lang="en-US" dirty="0"/>
              <a:t> </a:t>
            </a:r>
            <a:r>
              <a:rPr lang="en-US" dirty="0" err="1"/>
              <a:t>arhitekturama</a:t>
            </a:r>
            <a:r>
              <a:rPr lang="en-US" dirty="0"/>
              <a:t>,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jeste</a:t>
            </a:r>
            <a:r>
              <a:rPr lang="en-US" dirty="0"/>
              <a:t> </a:t>
            </a:r>
            <a:r>
              <a:rPr lang="en-US" dirty="0" err="1"/>
              <a:t>završna</a:t>
            </a:r>
            <a:r>
              <a:rPr lang="en-US" dirty="0"/>
              <a:t> </a:t>
            </a:r>
            <a:r>
              <a:rPr lang="en-US" dirty="0" err="1"/>
              <a:t>tačka</a:t>
            </a:r>
            <a:r>
              <a:rPr lang="en-US" dirty="0"/>
              <a:t> </a:t>
            </a:r>
            <a:r>
              <a:rPr lang="en-US" i="1" dirty="0"/>
              <a:t>data pipeline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skladište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generisanja</a:t>
            </a:r>
            <a:r>
              <a:rPr lang="en-US" dirty="0"/>
              <a:t> </a:t>
            </a:r>
            <a:r>
              <a:rPr lang="en-US" dirty="0" err="1"/>
              <a:t>izveštaja</a:t>
            </a:r>
            <a:r>
              <a:rPr lang="en-US" dirty="0"/>
              <a:t>. 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32566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CF04-AE6D-571D-2F8F-CCCB02BE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B211B-FCEF-A602-3F32-8F829A23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FED10-F8D7-B700-0D0E-3EF3CC8B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84" y="1781388"/>
            <a:ext cx="11286232" cy="46939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Kafka je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(</a:t>
            </a:r>
            <a:r>
              <a:rPr lang="en-US" i="1" dirty="0"/>
              <a:t>ingestion layer</a:t>
            </a:r>
            <a:r>
              <a:rPr lang="en-US" dirty="0"/>
              <a:t>),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(</a:t>
            </a:r>
            <a:r>
              <a:rPr lang="en-US" i="1" dirty="0"/>
              <a:t>storage </a:t>
            </a:r>
            <a:r>
              <a:rPr lang="en-US" dirty="0" err="1"/>
              <a:t>i</a:t>
            </a:r>
            <a:r>
              <a:rPr lang="en-US" i="1" dirty="0"/>
              <a:t> query layer</a:t>
            </a:r>
            <a:r>
              <a:rPr lang="en-US" dirty="0"/>
              <a:t>).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nalaziti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dodatni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za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i="1" dirty="0"/>
              <a:t>stream processing engine</a:t>
            </a:r>
            <a:r>
              <a:rPr lang="en-US" dirty="0"/>
              <a:t>), </a:t>
            </a:r>
            <a:r>
              <a:rPr lang="en-US" dirty="0" err="1"/>
              <a:t>ali</a:t>
            </a:r>
            <a:r>
              <a:rPr lang="en-US" dirty="0"/>
              <a:t> u </a:t>
            </a:r>
            <a:r>
              <a:rPr lang="en-US" dirty="0" err="1"/>
              <a:t>osnovnoj</a:t>
            </a:r>
            <a:r>
              <a:rPr lang="en-US" dirty="0"/>
              <a:t> </a:t>
            </a:r>
            <a:r>
              <a:rPr lang="en-US" dirty="0" err="1"/>
              <a:t>arhitekturi</a:t>
            </a:r>
            <a:r>
              <a:rPr lang="en-US" dirty="0"/>
              <a:t> Kafka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komunicirati</a:t>
            </a:r>
            <a:r>
              <a:rPr lang="en-US" dirty="0"/>
              <a:t>.</a:t>
            </a:r>
          </a:p>
          <a:p>
            <a:pPr algn="just"/>
            <a:endParaRPr lang="sr-Latn-RS" dirty="0"/>
          </a:p>
          <a:p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sledećem</a:t>
            </a:r>
            <a:r>
              <a:rPr lang="en-US" dirty="0"/>
              <a:t> </a:t>
            </a:r>
            <a:r>
              <a:rPr lang="en-US" dirty="0" err="1"/>
              <a:t>toku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Izvori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</a:t>
            </a:r>
            <a:r>
              <a:rPr lang="en-US" dirty="0" err="1"/>
              <a:t>aplikacije</a:t>
            </a:r>
            <a:r>
              <a:rPr lang="en-US" dirty="0"/>
              <a:t>, </a:t>
            </a:r>
            <a:r>
              <a:rPr lang="en-US" dirty="0" err="1"/>
              <a:t>senzori</a:t>
            </a:r>
            <a:r>
              <a:rPr lang="en-US" dirty="0"/>
              <a:t>, </a:t>
            </a:r>
            <a:r>
              <a:rPr lang="en-US" dirty="0" err="1"/>
              <a:t>servisi</a:t>
            </a:r>
            <a:r>
              <a:rPr lang="en-US" dirty="0"/>
              <a:t>) </a:t>
            </a:r>
            <a:r>
              <a:rPr lang="en-US" dirty="0" err="1"/>
              <a:t>generišu</a:t>
            </a:r>
            <a:r>
              <a:rPr lang="en-US" dirty="0"/>
              <a:t> </a:t>
            </a:r>
            <a:r>
              <a:rPr lang="en-US" dirty="0" err="1"/>
              <a:t>događaje</a:t>
            </a:r>
            <a:endParaRPr lang="en-US" dirty="0"/>
          </a:p>
          <a:p>
            <a:pPr lvl="1"/>
            <a:r>
              <a:rPr lang="en-US" dirty="0" err="1"/>
              <a:t>Događaji</a:t>
            </a:r>
            <a:r>
              <a:rPr lang="en-US" dirty="0"/>
              <a:t> se </a:t>
            </a:r>
            <a:r>
              <a:rPr lang="en-US" dirty="0" err="1"/>
              <a:t>šalju</a:t>
            </a:r>
            <a:r>
              <a:rPr lang="en-US" dirty="0"/>
              <a:t> u Apache Kafka </a:t>
            </a:r>
            <a:r>
              <a:rPr lang="en-US" i="1" dirty="0"/>
              <a:t>topic</a:t>
            </a:r>
            <a:r>
              <a:rPr lang="en-US" dirty="0"/>
              <a:t>-e</a:t>
            </a:r>
          </a:p>
          <a:p>
            <a:pPr lvl="1"/>
            <a:r>
              <a:rPr lang="en-US" dirty="0"/>
              <a:t>Kafka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distribuira</a:t>
            </a:r>
            <a:r>
              <a:rPr lang="en-US" dirty="0"/>
              <a:t> </a:t>
            </a:r>
            <a:r>
              <a:rPr lang="en-US" dirty="0" err="1"/>
              <a:t>podatke</a:t>
            </a:r>
            <a:endParaRPr lang="en-US" dirty="0"/>
          </a:p>
          <a:p>
            <a:pPr lvl="1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preuzima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Kafka </a:t>
            </a:r>
            <a:r>
              <a:rPr lang="en-US" dirty="0" err="1"/>
              <a:t>sistema</a:t>
            </a:r>
            <a:endParaRPr lang="en-US" dirty="0"/>
          </a:p>
          <a:p>
            <a:pPr lvl="1"/>
            <a:r>
              <a:rPr lang="en-US" dirty="0" err="1"/>
              <a:t>Podaci</a:t>
            </a:r>
            <a:r>
              <a:rPr lang="en-US" dirty="0"/>
              <a:t> se </a:t>
            </a:r>
            <a:r>
              <a:rPr lang="en-US" dirty="0" err="1"/>
              <a:t>skladište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tabelama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.</a:t>
            </a:r>
          </a:p>
          <a:p>
            <a:pPr algn="just"/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1615403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8798-1E83-A5CE-F5F2-AB6C23057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1F76-2885-1C86-E98B-F5414117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8226-4479-4034-AE1D-A2C271F13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28" y="1804939"/>
            <a:ext cx="11029615" cy="3678303"/>
          </a:xfrm>
        </p:spPr>
        <p:txBody>
          <a:bodyPr/>
          <a:lstStyle/>
          <a:p>
            <a:pPr algn="just"/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poseduje</a:t>
            </a:r>
            <a:r>
              <a:rPr lang="en-US" dirty="0"/>
              <a:t> </a:t>
            </a:r>
            <a:r>
              <a:rPr lang="en-US" dirty="0" err="1"/>
              <a:t>poseban</a:t>
            </a:r>
            <a:r>
              <a:rPr lang="en-US" dirty="0"/>
              <a:t> tip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zasnovan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-u,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Apache Kafka </a:t>
            </a:r>
            <a:r>
              <a:rPr lang="en-US" dirty="0" err="1"/>
              <a:t>sistemom</a:t>
            </a:r>
            <a:r>
              <a:rPr lang="en-US" dirty="0"/>
              <a:t>. 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Kafka </a:t>
            </a:r>
            <a:r>
              <a:rPr lang="en-US" dirty="0" err="1"/>
              <a:t>potrošač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čita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Kafka </a:t>
            </a:r>
            <a:r>
              <a:rPr lang="en-US" i="1" dirty="0"/>
              <a:t>topic</a:t>
            </a:r>
            <a:r>
              <a:rPr lang="en-US" dirty="0"/>
              <a:t>-a</a:t>
            </a:r>
            <a:r>
              <a:rPr lang="sr-Latn-RS" dirty="0"/>
              <a:t>.</a:t>
            </a:r>
          </a:p>
          <a:p>
            <a:pPr algn="just"/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kreiranja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definišu</a:t>
            </a:r>
            <a:r>
              <a:rPr lang="en-US" dirty="0"/>
              <a:t> se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Kafka </a:t>
            </a:r>
            <a:r>
              <a:rPr lang="en-US" i="1" dirty="0"/>
              <a:t>broker</a:t>
            </a:r>
            <a:r>
              <a:rPr lang="en-US" dirty="0"/>
              <a:t>-a, </a:t>
            </a:r>
            <a:r>
              <a:rPr lang="en-US" dirty="0" err="1"/>
              <a:t>naziv</a:t>
            </a:r>
            <a:r>
              <a:rPr lang="en-US" dirty="0"/>
              <a:t> </a:t>
            </a:r>
            <a:r>
              <a:rPr lang="en-US" i="1" dirty="0"/>
              <a:t>topic</a:t>
            </a:r>
            <a:r>
              <a:rPr lang="en-US" dirty="0"/>
              <a:t>-a, format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identifikator</a:t>
            </a:r>
            <a:r>
              <a:rPr lang="en-US" dirty="0"/>
              <a:t> </a:t>
            </a:r>
            <a:r>
              <a:rPr lang="en-US" i="1" dirty="0"/>
              <a:t>consumer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. 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standardnih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, Kafka </a:t>
            </a:r>
            <a:r>
              <a:rPr lang="en-US" i="1" dirty="0"/>
              <a:t>engine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ne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trajno</a:t>
            </a:r>
            <a:r>
              <a:rPr lang="en-US" dirty="0"/>
              <a:t> u </a:t>
            </a:r>
            <a:r>
              <a:rPr lang="en-US" dirty="0" err="1"/>
              <a:t>ClickHouse</a:t>
            </a:r>
            <a:r>
              <a:rPr lang="en-US" dirty="0"/>
              <a:t>-u,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za </a:t>
            </a:r>
            <a:r>
              <a:rPr lang="en-US" dirty="0" err="1"/>
              <a:t>preuzimanje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Kafka </a:t>
            </a:r>
            <a:r>
              <a:rPr lang="en-US" dirty="0" err="1"/>
              <a:t>sistema</a:t>
            </a:r>
            <a:r>
              <a:rPr lang="en-US" dirty="0"/>
              <a:t>. </a:t>
            </a:r>
            <a:endParaRPr lang="sr-Latn-RS" dirty="0"/>
          </a:p>
          <a:p>
            <a:pPr algn="just"/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en-US" dirty="0" err="1"/>
              <a:t>preuzme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Kafka </a:t>
            </a:r>
            <a:r>
              <a:rPr lang="en-US" i="1" dirty="0"/>
              <a:t>engine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</a:t>
            </a:r>
            <a:r>
              <a:rPr lang="en-US" i="1" dirty="0"/>
              <a:t>materialized view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definisanu</a:t>
            </a:r>
            <a:r>
              <a:rPr lang="en-US" dirty="0"/>
              <a:t> </a:t>
            </a:r>
            <a:r>
              <a:rPr lang="en-US" dirty="0" err="1"/>
              <a:t>transformaciju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upisuje</a:t>
            </a:r>
            <a:r>
              <a:rPr lang="en-US" dirty="0"/>
              <a:t> u </a:t>
            </a:r>
            <a:r>
              <a:rPr lang="en-US" dirty="0" err="1"/>
              <a:t>odgovarajuću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željenom</a:t>
            </a:r>
            <a:r>
              <a:rPr lang="en-US" dirty="0"/>
              <a:t> </a:t>
            </a:r>
            <a:r>
              <a:rPr lang="en-US" dirty="0" err="1"/>
              <a:t>strukturom</a:t>
            </a:r>
            <a:r>
              <a:rPr lang="en-US" dirty="0"/>
              <a:t>,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zasnovanu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MergeTree</a:t>
            </a:r>
            <a:r>
              <a:rPr lang="en-US" dirty="0"/>
              <a:t> </a:t>
            </a:r>
            <a:r>
              <a:rPr lang="en-US" i="1" dirty="0"/>
              <a:t>engine</a:t>
            </a:r>
            <a:r>
              <a:rPr lang="en-US" dirty="0"/>
              <a:t>-u. 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23078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54C6-19E9-587F-CD4C-4BABA73D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clickhouse</a:t>
            </a:r>
            <a:r>
              <a:rPr lang="en-US" dirty="0"/>
              <a:t> I </a:t>
            </a:r>
            <a:r>
              <a:rPr lang="en-US" dirty="0" err="1"/>
              <a:t>kafka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0DD7-6AA1-14BA-C422-8695DEB4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Prednosti integracije:	</a:t>
            </a:r>
          </a:p>
          <a:p>
            <a:pPr lvl="1"/>
            <a:r>
              <a:rPr lang="sr-Latn-RS" dirty="0"/>
              <a:t>Mogućnost obrade podataka u realnom vremenu,</a:t>
            </a:r>
          </a:p>
          <a:p>
            <a:pPr lvl="1"/>
            <a:r>
              <a:rPr lang="sr-Latn-RS" dirty="0"/>
              <a:t>Visoka </a:t>
            </a:r>
            <a:r>
              <a:rPr lang="sr-Latn-RS" dirty="0" err="1"/>
              <a:t>skalabilonst</a:t>
            </a:r>
            <a:r>
              <a:rPr lang="sr-Latn-RS" dirty="0"/>
              <a:t> oba sistema,</a:t>
            </a:r>
          </a:p>
          <a:p>
            <a:pPr lvl="1"/>
            <a:r>
              <a:rPr lang="sr-Latn-RS" dirty="0"/>
              <a:t>Visok nivou otpornosti na greške.</a:t>
            </a:r>
          </a:p>
          <a:p>
            <a:r>
              <a:rPr lang="sr-Latn-RS" dirty="0"/>
              <a:t>Izazovi integracije:</a:t>
            </a:r>
          </a:p>
          <a:p>
            <a:pPr lvl="1"/>
            <a:r>
              <a:rPr lang="sr-Latn-RS" dirty="0"/>
              <a:t>Konzistentnost podataka,</a:t>
            </a:r>
          </a:p>
          <a:p>
            <a:pPr lvl="1"/>
            <a:r>
              <a:rPr lang="sr-Latn-RS" dirty="0"/>
              <a:t>Rukovanje duplikatima i </a:t>
            </a:r>
            <a:r>
              <a:rPr lang="en-US" dirty="0"/>
              <a:t>exactly-once </a:t>
            </a:r>
            <a:r>
              <a:rPr lang="en-US" dirty="0" err="1"/>
              <a:t>semantika</a:t>
            </a:r>
            <a:r>
              <a:rPr lang="sr-Latn-RS" dirty="0"/>
              <a:t>,</a:t>
            </a:r>
          </a:p>
          <a:p>
            <a:pPr lvl="1"/>
            <a:r>
              <a:rPr lang="sr-Latn-RS" dirty="0"/>
              <a:t>Visoka </a:t>
            </a:r>
            <a:r>
              <a:rPr lang="sr-Latn-RS" dirty="0" err="1"/>
              <a:t>latencija</a:t>
            </a:r>
            <a:r>
              <a:rPr lang="sr-Latn-RS" dirty="0"/>
              <a:t> pri velikom opterećenju.</a:t>
            </a:r>
          </a:p>
        </p:txBody>
      </p:sp>
    </p:spTree>
    <p:extLst>
      <p:ext uri="{BB962C8B-B14F-4D97-AF65-F5344CB8AC3E}">
        <p14:creationId xmlns:p14="http://schemas.microsoft.com/office/powerpoint/2010/main" val="278609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4186-9430-7F4E-20E7-FAB3ED2B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511B-8606-0FDE-FC25-649385B7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4B96-E710-CAD5-FF12-63652598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Ceo sistem je </a:t>
            </a:r>
            <a:r>
              <a:rPr lang="sr-Latn-RS" dirty="0" err="1"/>
              <a:t>kontejnerizovan</a:t>
            </a:r>
            <a:r>
              <a:rPr lang="sr-Latn-RS" dirty="0"/>
              <a:t> pomoću </a:t>
            </a:r>
            <a:r>
              <a:rPr lang="sr-Latn-RS" dirty="0" err="1"/>
              <a:t>Docker</a:t>
            </a:r>
            <a:r>
              <a:rPr lang="sr-Latn-RS" dirty="0"/>
              <a:t>-a, a kompletnu infrastrukturu čini Kafka broker, </a:t>
            </a:r>
            <a:r>
              <a:rPr lang="sr-Latn-RS" dirty="0" err="1"/>
              <a:t>ClickHouse</a:t>
            </a:r>
            <a:r>
              <a:rPr lang="sr-Latn-RS" dirty="0"/>
              <a:t> instanca, pomoćna komponenta koja generiše podatke i Kafka UI.</a:t>
            </a:r>
          </a:p>
          <a:p>
            <a:pPr lvl="1"/>
            <a:r>
              <a:rPr lang="sr-Latn-RS" i="1" dirty="0" err="1"/>
              <a:t>Producer</a:t>
            </a:r>
            <a:r>
              <a:rPr lang="sr-Latn-RS" dirty="0"/>
              <a:t> komponenta - aplikacija napisana u programskom jeziku </a:t>
            </a:r>
            <a:r>
              <a:rPr lang="sr-Latn-RS" dirty="0" err="1"/>
              <a:t>Python</a:t>
            </a:r>
            <a:r>
              <a:rPr lang="sr-Latn-RS" dirty="0"/>
              <a:t> koja simulira mrežu senzora raspoređenih u pet gradova i periodično šalje simulirana merenja temperature i vlažnosti.</a:t>
            </a:r>
            <a:endParaRPr lang="en-US" sz="1400" dirty="0"/>
          </a:p>
          <a:p>
            <a:pPr lvl="1"/>
            <a:r>
              <a:rPr lang="sr-Latn-RS" dirty="0" err="1"/>
              <a:t>Apache</a:t>
            </a:r>
            <a:r>
              <a:rPr lang="sr-Latn-RS" dirty="0"/>
              <a:t> Kafka </a:t>
            </a:r>
            <a:r>
              <a:rPr lang="sr-Latn-RS" i="1" dirty="0"/>
              <a:t>broker</a:t>
            </a:r>
            <a:r>
              <a:rPr lang="sr-Latn-RS" dirty="0"/>
              <a:t> - centralna komponenta zadužena za prijem, privremeno skladištenje i distribuciju događaja.</a:t>
            </a:r>
          </a:p>
          <a:p>
            <a:pPr lvl="1"/>
            <a:r>
              <a:rPr lang="sr-Latn-RS" dirty="0" err="1"/>
              <a:t>ClickHouse</a:t>
            </a:r>
            <a:r>
              <a:rPr lang="sr-Latn-RS" dirty="0"/>
              <a:t> server - analitička baza podataka koja preuzima poruke direktno iz Kafka </a:t>
            </a:r>
            <a:r>
              <a:rPr lang="sr-Latn-RS" i="1" dirty="0" err="1"/>
              <a:t>topic</a:t>
            </a:r>
            <a:r>
              <a:rPr lang="sr-Latn-RS" dirty="0"/>
              <a:t>-a i trajno ih čuva radi kasnije analize.</a:t>
            </a:r>
            <a:endParaRPr lang="en-US" sz="1400" dirty="0"/>
          </a:p>
          <a:p>
            <a:pPr lvl="1"/>
            <a:r>
              <a:rPr lang="sr-Latn-RS" dirty="0"/>
              <a:t>Kafka UI - pomoćna komponenta koja pruža grafički uvid u sadržaj </a:t>
            </a:r>
            <a:r>
              <a:rPr lang="sr-Latn-RS" i="1" dirty="0" err="1"/>
              <a:t>topic</a:t>
            </a:r>
            <a:r>
              <a:rPr lang="sr-Latn-RS" dirty="0"/>
              <a:t>-a.</a:t>
            </a:r>
            <a:endParaRPr lang="en-US" sz="1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8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C257-50C7-230A-A758-F53DBEE8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9B0A-BD33-5F69-08EC-020BA068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F481-BCC3-8C39-3FD9-7CBF13EA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775717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Simulacija izvora podataka</a:t>
            </a:r>
          </a:p>
          <a:p>
            <a:pPr lvl="1"/>
            <a:r>
              <a:rPr lang="sr-Latn-RS" dirty="0" err="1"/>
              <a:t>Producer</a:t>
            </a:r>
            <a:r>
              <a:rPr lang="sr-Latn-RS" dirty="0"/>
              <a:t> komponenta emituje JSON poruke oblika prikazanog na slici.</a:t>
            </a:r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pPr marL="324000" lvl="1" indent="0">
              <a:buNone/>
            </a:pPr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Konfiguracija </a:t>
            </a:r>
            <a:r>
              <a:rPr lang="sr-Latn-RS" dirty="0" err="1"/>
              <a:t>Apache</a:t>
            </a:r>
            <a:r>
              <a:rPr lang="sr-Latn-RS" dirty="0"/>
              <a:t> Kafka i </a:t>
            </a:r>
            <a:r>
              <a:rPr lang="sr-Latn-RS" dirty="0" err="1"/>
              <a:t>ClickHouse</a:t>
            </a:r>
            <a:endParaRPr lang="sr-Latn-RS" dirty="0"/>
          </a:p>
          <a:p>
            <a:pPr lvl="1"/>
            <a:r>
              <a:rPr lang="sr-Latn-RS" dirty="0"/>
              <a:t>Kreiran je </a:t>
            </a:r>
            <a:r>
              <a:rPr lang="sr-Latn-RS" i="1" dirty="0" err="1"/>
              <a:t>topic</a:t>
            </a:r>
            <a:r>
              <a:rPr lang="sr-Latn-RS" dirty="0"/>
              <a:t> koji se naziva </a:t>
            </a:r>
            <a:r>
              <a:rPr lang="sr-Latn-RS" i="1" dirty="0" err="1"/>
              <a:t>sensor_events</a:t>
            </a:r>
            <a:r>
              <a:rPr lang="sr-Latn-RS" dirty="0"/>
              <a:t> prilikom prvog povezivanja sa </a:t>
            </a:r>
            <a:r>
              <a:rPr lang="sr-Latn-RS" i="1" dirty="0" err="1"/>
              <a:t>producer</a:t>
            </a:r>
            <a:r>
              <a:rPr lang="sr-Latn-RS" dirty="0"/>
              <a:t> komponentom.</a:t>
            </a:r>
          </a:p>
          <a:p>
            <a:pPr lvl="1"/>
            <a:r>
              <a:rPr lang="sr-Latn-RS" dirty="0" err="1"/>
              <a:t>ClickHouse</a:t>
            </a:r>
            <a:r>
              <a:rPr lang="sr-Latn-RS" dirty="0"/>
              <a:t> se prema Kafka brokeru ponaša kao standardni potrošač, pridružen </a:t>
            </a:r>
            <a:r>
              <a:rPr lang="sr-Latn-RS" i="1" dirty="0" err="1"/>
              <a:t>consumer</a:t>
            </a:r>
            <a:r>
              <a:rPr lang="sr-Latn-RS" dirty="0"/>
              <a:t> grupi </a:t>
            </a:r>
            <a:r>
              <a:rPr lang="sr-Latn-RS" i="1" dirty="0" err="1"/>
              <a:t>clickhouse_sensor_consumer</a:t>
            </a:r>
            <a:r>
              <a:rPr lang="sr-Latn-RS" i="1" dirty="0"/>
              <a:t>.</a:t>
            </a:r>
          </a:p>
          <a:p>
            <a:pPr lvl="1"/>
            <a:r>
              <a:rPr lang="sr-Latn-RS" dirty="0"/>
              <a:t>Kreirane su tabele </a:t>
            </a:r>
            <a:r>
              <a:rPr lang="sr-Latn-RS" i="1" dirty="0" err="1"/>
              <a:t>sensor_events_queue</a:t>
            </a:r>
            <a:r>
              <a:rPr lang="sr-Latn-RS" i="1" dirty="0"/>
              <a:t>, </a:t>
            </a:r>
            <a:r>
              <a:rPr lang="sr-Latn-RS" i="1" dirty="0" err="1"/>
              <a:t>sensor_events</a:t>
            </a:r>
            <a:r>
              <a:rPr lang="sr-Latn-RS" i="1" dirty="0"/>
              <a:t> i </a:t>
            </a:r>
            <a:r>
              <a:rPr lang="sr-Latn-RS" i="1" dirty="0" err="1"/>
              <a:t>materialized</a:t>
            </a:r>
            <a:r>
              <a:rPr lang="sr-Latn-RS" i="1" dirty="0"/>
              <a:t> </a:t>
            </a:r>
            <a:r>
              <a:rPr lang="sr-Latn-RS" i="1" dirty="0" err="1"/>
              <a:t>view</a:t>
            </a:r>
            <a:r>
              <a:rPr lang="sr-Latn-RS" i="1" dirty="0"/>
              <a:t> </a:t>
            </a:r>
            <a:r>
              <a:rPr lang="sr-Latn-RS" i="1" dirty="0" err="1"/>
              <a:t>sensor_events_mv</a:t>
            </a:r>
            <a:r>
              <a:rPr lang="sr-Latn-RS" i="1" dirty="0"/>
              <a:t>.</a:t>
            </a:r>
            <a:endParaRPr lang="sr-Latn-RS" dirty="0"/>
          </a:p>
          <a:p>
            <a:pPr lvl="1"/>
            <a:endParaRPr lang="sr-Latn-R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2556D-34F9-8386-3271-46DC6BF1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753" y="2912535"/>
            <a:ext cx="3764457" cy="137668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56F1EE-5B72-30BE-80E2-2AE62EF762C2}"/>
              </a:ext>
            </a:extLst>
          </p:cNvPr>
          <p:cNvSpPr txBox="1">
            <a:spLocks/>
          </p:cNvSpPr>
          <p:nvPr/>
        </p:nvSpPr>
        <p:spPr>
          <a:xfrm>
            <a:off x="3361646" y="4483623"/>
            <a:ext cx="7017605" cy="844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lvl="1" indent="0">
              <a:buNone/>
            </a:pPr>
            <a:r>
              <a:rPr lang="sr-Latn-RS" dirty="0"/>
              <a:t>Primer JSON poruke koju generiše </a:t>
            </a:r>
            <a:r>
              <a:rPr lang="sr-Latn-RS" dirty="0" err="1"/>
              <a:t>producer</a:t>
            </a:r>
            <a:r>
              <a:rPr lang="sr-Latn-RS" dirty="0"/>
              <a:t> komponenta</a:t>
            </a:r>
          </a:p>
          <a:p>
            <a:pPr lvl="1"/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9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7F2C6-2005-8250-061C-E338BD73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B713-5AC9-AC72-0B09-1C5FA23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5FB16A-02B6-C039-2CFD-60BEE89E3858}"/>
              </a:ext>
            </a:extLst>
          </p:cNvPr>
          <p:cNvSpPr txBox="1">
            <a:spLocks/>
          </p:cNvSpPr>
          <p:nvPr/>
        </p:nvSpPr>
        <p:spPr>
          <a:xfrm>
            <a:off x="581192" y="4983368"/>
            <a:ext cx="6222621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kreiranje </a:t>
            </a:r>
            <a:r>
              <a:rPr lang="sr-Latn-RS" i="1" dirty="0" err="1"/>
              <a:t>sensor_events_queue</a:t>
            </a:r>
            <a:r>
              <a:rPr lang="sr-Latn-RS" i="1" dirty="0"/>
              <a:t> </a:t>
            </a:r>
            <a:r>
              <a:rPr lang="sr-Latn-RS" dirty="0"/>
              <a:t>tabele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0CE17-3DCD-B314-C4C4-F7A34CC2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1" y="2146951"/>
            <a:ext cx="4226983" cy="340686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6A027B-3F92-8313-9CBF-BD271F405C10}"/>
              </a:ext>
            </a:extLst>
          </p:cNvPr>
          <p:cNvSpPr txBox="1">
            <a:spLocks/>
          </p:cNvSpPr>
          <p:nvPr/>
        </p:nvSpPr>
        <p:spPr>
          <a:xfrm>
            <a:off x="6803813" y="4983368"/>
            <a:ext cx="6222621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kreiranje tabele </a:t>
            </a:r>
            <a:r>
              <a:rPr lang="sr-Latn-RS" i="1" dirty="0" err="1"/>
              <a:t>sensor_events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25BED-798A-CD64-F4EE-F8138DB97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91" y="2146951"/>
            <a:ext cx="5600321" cy="340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1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03C8-88C7-4405-36BA-3F76DF0C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FC0C-E44F-0432-397C-65B6D1FB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CBA613-2FD1-3638-9DAA-41467D5FC761}"/>
              </a:ext>
            </a:extLst>
          </p:cNvPr>
          <p:cNvSpPr txBox="1">
            <a:spLocks/>
          </p:cNvSpPr>
          <p:nvPr/>
        </p:nvSpPr>
        <p:spPr>
          <a:xfrm>
            <a:off x="3307459" y="4475368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Naredba za definisanje </a:t>
            </a:r>
            <a:r>
              <a:rPr lang="sr-Latn-RS" i="1" dirty="0" err="1"/>
              <a:t>materialized</a:t>
            </a:r>
            <a:r>
              <a:rPr lang="sr-Latn-RS" i="1" dirty="0"/>
              <a:t> </a:t>
            </a:r>
            <a:r>
              <a:rPr lang="sr-Latn-RS" i="1" dirty="0" err="1"/>
              <a:t>view</a:t>
            </a:r>
            <a:r>
              <a:rPr lang="sr-Latn-RS" i="1" dirty="0"/>
              <a:t>-a </a:t>
            </a:r>
            <a:r>
              <a:rPr lang="sr-Latn-RS" i="1" dirty="0" err="1"/>
              <a:t>sensor_events_mv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55A03-DDB4-E178-FB1D-F1A6446D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493" y="2492587"/>
            <a:ext cx="5805013" cy="264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A2DB-C66E-7120-06CD-7E625AF6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FDF9-D7CD-A3E5-399C-E459D52C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7FC7B1-5246-BA59-68DE-87CAE99B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55" y="429952"/>
            <a:ext cx="11029615" cy="3678303"/>
          </a:xfrm>
        </p:spPr>
        <p:txBody>
          <a:bodyPr/>
          <a:lstStyle/>
          <a:p>
            <a:r>
              <a:rPr lang="en-US" dirty="0"/>
              <a:t>Radi </a:t>
            </a:r>
            <a:r>
              <a:rPr lang="en-US" dirty="0" err="1"/>
              <a:t>demonstracije</a:t>
            </a:r>
            <a:r>
              <a:rPr lang="en-US" dirty="0"/>
              <a:t> </a:t>
            </a:r>
            <a:r>
              <a:rPr lang="en-US" dirty="0" err="1"/>
              <a:t>funkcionisanja</a:t>
            </a:r>
            <a:r>
              <a:rPr lang="en-US" dirty="0"/>
              <a:t> </a:t>
            </a:r>
            <a:r>
              <a:rPr lang="en-US" dirty="0" err="1"/>
              <a:t>implementiranog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prikupljenim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pokrenuto</a:t>
            </a:r>
            <a:r>
              <a:rPr lang="en-US" dirty="0"/>
              <a:t> je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jednostavnih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E0728-DF2E-C636-2C12-76961125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80" y="3116482"/>
            <a:ext cx="6503171" cy="330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6346F-69F1-1287-FEB8-8834D3DC04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947" r="49074"/>
          <a:stretch>
            <a:fillRect/>
          </a:stretch>
        </p:blipFill>
        <p:spPr bwMode="auto">
          <a:xfrm>
            <a:off x="8473242" y="2927275"/>
            <a:ext cx="1726321" cy="6575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FFE49C-B5DD-6EB0-DBF7-F87B8DE9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4" y="4453549"/>
            <a:ext cx="5270423" cy="1701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C94A14-3804-1A15-FA17-B6CD45C1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92370"/>
            <a:ext cx="5675959" cy="64097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ABDB4FB-D1E8-F44B-C97A-4D6F4B78144A}"/>
              </a:ext>
            </a:extLst>
          </p:cNvPr>
          <p:cNvSpPr txBox="1">
            <a:spLocks/>
          </p:cNvSpPr>
          <p:nvPr/>
        </p:nvSpPr>
        <p:spPr>
          <a:xfrm>
            <a:off x="559014" y="1833328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Provera broja redova u tabeli </a:t>
            </a:r>
            <a:r>
              <a:rPr lang="sr-Latn-RS" i="1" dirty="0" err="1"/>
              <a:t>sensor_events</a:t>
            </a:r>
            <a:r>
              <a:rPr lang="sr-Latn-RS" i="1" dirty="0"/>
              <a:t>.</a:t>
            </a:r>
            <a:endParaRPr lang="en-US" sz="16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9989E6B-1435-09DB-CCBB-66BF6FC4526C}"/>
              </a:ext>
            </a:extLst>
          </p:cNvPr>
          <p:cNvSpPr txBox="1">
            <a:spLocks/>
          </p:cNvSpPr>
          <p:nvPr/>
        </p:nvSpPr>
        <p:spPr>
          <a:xfrm>
            <a:off x="581192" y="3116482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Određivanje </a:t>
            </a:r>
            <a:r>
              <a:rPr lang="sr-Latn-RS" dirty="0" err="1"/>
              <a:t>latencije</a:t>
            </a:r>
            <a:r>
              <a:rPr lang="sr-Latn-R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2700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FDD8-282B-82D5-9826-C717804F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87F5-6E9E-0D08-85CD-729CC4E8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</a:t>
            </a:r>
            <a:r>
              <a:rPr lang="sr-Latn-RS" dirty="0" err="1"/>
              <a:t>čna</a:t>
            </a:r>
            <a:r>
              <a:rPr lang="sr-Latn-RS" dirty="0"/>
              <a:t> implementacija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1DC9B-0CAE-7DE6-5F9F-3EA4B181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55" y="429952"/>
            <a:ext cx="11029615" cy="3678303"/>
          </a:xfrm>
        </p:spPr>
        <p:txBody>
          <a:bodyPr/>
          <a:lstStyle/>
          <a:p>
            <a:r>
              <a:rPr lang="en-US" dirty="0"/>
              <a:t>Radi </a:t>
            </a:r>
            <a:r>
              <a:rPr lang="en-US" dirty="0" err="1"/>
              <a:t>demonstracije</a:t>
            </a:r>
            <a:r>
              <a:rPr lang="en-US" dirty="0"/>
              <a:t> </a:t>
            </a:r>
            <a:r>
              <a:rPr lang="en-US" dirty="0" err="1"/>
              <a:t>funkcionisanja</a:t>
            </a:r>
            <a:r>
              <a:rPr lang="en-US" dirty="0"/>
              <a:t> </a:t>
            </a:r>
            <a:r>
              <a:rPr lang="en-US" dirty="0" err="1"/>
              <a:t>implementiranog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prikupljenim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pokrenuto</a:t>
            </a:r>
            <a:r>
              <a:rPr lang="en-US" dirty="0"/>
              <a:t> je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jednostavnih</a:t>
            </a:r>
            <a:r>
              <a:rPr lang="en-US" dirty="0"/>
              <a:t> </a:t>
            </a:r>
            <a:r>
              <a:rPr lang="en-US" dirty="0" err="1"/>
              <a:t>upita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C8AC5-A969-BCEC-B893-05B77028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385" y="3200171"/>
            <a:ext cx="4072615" cy="2005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51EAC0-3D85-497D-0524-F123147E4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204" y="5291057"/>
            <a:ext cx="6498223" cy="12288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06B2-D623-579D-C956-139FE1A4E4F7}"/>
              </a:ext>
            </a:extLst>
          </p:cNvPr>
          <p:cNvSpPr txBox="1">
            <a:spLocks/>
          </p:cNvSpPr>
          <p:nvPr/>
        </p:nvSpPr>
        <p:spPr>
          <a:xfrm>
            <a:off x="764072" y="1904977"/>
            <a:ext cx="9013235" cy="2002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/>
              <a:t>Računanje dnevne minimalne, maksimalne i srednje temperature:</a:t>
            </a:r>
          </a:p>
        </p:txBody>
      </p:sp>
    </p:spTree>
    <p:extLst>
      <p:ext uri="{BB962C8B-B14F-4D97-AF65-F5344CB8AC3E}">
        <p14:creationId xmlns:p14="http://schemas.microsoft.com/office/powerpoint/2010/main" val="41084034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4478</TotalTime>
  <Words>976</Words>
  <Application>Microsoft Office PowerPoint</Application>
  <PresentationFormat>Widescreen</PresentationFormat>
  <Paragraphs>89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Wingdings 2</vt:lpstr>
      <vt:lpstr>Dividend</vt:lpstr>
      <vt:lpstr>Integracija sistema za striming podataka i baze podataka(kafka i clickhouse)</vt:lpstr>
      <vt:lpstr>Apache kafka</vt:lpstr>
      <vt:lpstr>Apache kafka</vt:lpstr>
      <vt:lpstr>Clickhouse</vt:lpstr>
      <vt:lpstr>Integracija clickhouse I kafka</vt:lpstr>
      <vt:lpstr>Integracija clickhouse I kafka</vt:lpstr>
      <vt:lpstr>Integracija clickhouse I kafka</vt:lpstr>
      <vt:lpstr>Praktična implementacija</vt:lpstr>
      <vt:lpstr>Praktična implementacija</vt:lpstr>
      <vt:lpstr>Praktična implementacija</vt:lpstr>
      <vt:lpstr>Praktična implementacija</vt:lpstr>
      <vt:lpstr>Praktična implementacija</vt:lpstr>
      <vt:lpstr>Praktična implementacija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 Tonsa Milovanović</dc:creator>
  <cp:lastModifiedBy>Anja Tonsa Milovanović</cp:lastModifiedBy>
  <cp:revision>87</cp:revision>
  <dcterms:created xsi:type="dcterms:W3CDTF">2026-04-25T17:17:23Z</dcterms:created>
  <dcterms:modified xsi:type="dcterms:W3CDTF">2026-07-05T13:37:28Z</dcterms:modified>
</cp:coreProperties>
</file>