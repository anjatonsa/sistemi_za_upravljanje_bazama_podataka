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1"/>
  </p:notesMasterIdLst>
  <p:sldIdLst>
    <p:sldId id="256" r:id="rId2"/>
    <p:sldId id="262" r:id="rId3"/>
    <p:sldId id="292" r:id="rId4"/>
    <p:sldId id="293" r:id="rId5"/>
    <p:sldId id="287" r:id="rId6"/>
    <p:sldId id="294" r:id="rId7"/>
    <p:sldId id="295" r:id="rId8"/>
    <p:sldId id="288" r:id="rId9"/>
    <p:sldId id="289" r:id="rId10"/>
    <p:sldId id="290" r:id="rId11"/>
    <p:sldId id="27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5" autoAdjust="0"/>
    <p:restoredTop sz="78486" autoAdjust="0"/>
  </p:normalViewPr>
  <p:slideViewPr>
    <p:cSldViewPr snapToGrid="0">
      <p:cViewPr varScale="1">
        <p:scale>
          <a:sx n="78" d="100"/>
          <a:sy n="78" d="100"/>
        </p:scale>
        <p:origin x="84" y="11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AB516-F1BD-4C60-A727-C1DFF1D7A85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4DE84-EE1D-4C91-8630-098DA0158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9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05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B996-3131-EE6D-C1EF-98F68A1E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49FBE-0411-B5FD-DE76-7A6AD0CA9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8CCD8-87CA-0980-932B-7EC07A999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prate taj log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. Na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konvergiraju</a:t>
            </a:r>
            <a:r>
              <a:rPr lang="en-US" dirty="0"/>
              <a:t> ka </a:t>
            </a:r>
            <a:r>
              <a:rPr lang="en-US" dirty="0" err="1"/>
              <a:t>identičnom</a:t>
            </a:r>
            <a:r>
              <a:rPr lang="en-US" dirty="0"/>
              <a:t> </a:t>
            </a:r>
            <a:r>
              <a:rPr lang="en-US" dirty="0" err="1"/>
              <a:t>stanju</a:t>
            </a:r>
            <a:r>
              <a:rPr lang="en-US" dirty="0"/>
              <a:t>, </a:t>
            </a: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nezavisno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309C1-41C1-39FB-3D44-A8DCFF145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94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8808-E167-8D62-3E30-C233C43B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0317C-F69E-B373-881F-27FA772EC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1B2F0-736D-63C9-75A2-49E233377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F47FA-E65C-48C0-BA39-39BF58855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6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EB8F-A8AF-7285-9B03-1B34D07A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3F728-40B8-781E-CCCB-908B96EE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95610-DAE1-8B90-9B94-9D171899F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61F7-3FB1-8AD1-F31F-10FFBC9C9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55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0CD1-1D08-BFF2-9C85-140DE75F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98207-9732-A2EC-497E-967978DD3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C9131-E94C-403D-9C2A-2D74E11C6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06BC9-EBF2-E3E5-C2DE-AC0EEA182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13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F2E5-2382-15C7-6E8F-185A4F1F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C6A06-9C99-3BBF-3FAD-63B23094F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A8209-E531-A953-741B-7522850C0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A3BFE-9238-E602-4A9F-E3EC63235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19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C209A-AB91-E2AA-4C2B-73A867E6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69925-8B69-6CC3-CC9A-51E1EBFFD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FD4D9-C629-823A-A0F7-FC403785F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6B8E8-8A50-F10E-4DD8-2F1F77407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35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B001-34E6-EBD7-55DD-E1306997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4C1A2-CB79-C48B-861A-84813D64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BD865-1352-8EB1-44FC-00FF1DFD6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CAP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teoremi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distribuirani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istovremeno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garantovati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svojstva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konzistentnost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čvorovi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dostupnost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zahtev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dobija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odgovor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toleranciju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particionisanja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komunikacija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čvorova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moguća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F331F-7AFF-36BD-554A-A499DF387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97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BB44-50D2-9477-7B99-C06132BC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6DCE7-73A8-CB63-4B81-A1E9BA021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7E1E6-9FE4-8B60-734D-B034E4422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4C496-4C89-0C07-C3BA-E0A7C5312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52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86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A83A-4AE8-FB2D-13E8-2C997FC9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94B6A-2B0C-C14D-C735-39387B5D2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FDA82-3AA4-B4AF-07B0-72F7D160C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23C68-180D-B196-5D29-33520FC86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91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1458-0A33-7161-9C1D-2E54D7182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C2378-8C51-EA2F-F2A2-A0595A03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E4852-85B4-4843-3540-DD679E538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571FE-382B-7DC3-2B5C-E5E00A168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58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696D-2E26-F340-BABF-F477DB2C5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0EC65-E02C-6AE8-581C-E33983F2D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5B5B7-8544-E5A1-3040-76A59AB3B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156FB-F4A7-7A52-B822-AD00D2A85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83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613E-4168-7D95-4FCC-D166AE7E5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4D7DD-04C7-AC28-D4B1-3308F5860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C6908-EAF3-89DB-3177-5818AA8AF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71335-D693-CBF4-7410-A93B9D4F5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28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5F4C-54F9-3C50-4116-FB3FAB63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682A1-4ED1-80C3-3AD0-77D2C0780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830FF-93F7-9A09-A962-E320AAF00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EE9A6-E826-6FCA-829E-95039BFA0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91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7AA2-953B-D933-B138-419E6A71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67A27-1651-804A-47C7-CEB5D2538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6FF34-9307-480D-CED3-E228326B1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3D91B-C3C3-B187-E017-9A074359F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28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E522-ADF8-57B0-E3B4-173FDB18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9B2C5-95F4-9AC9-98DF-353859443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20C67-2C5F-8B3B-15E9-D9288D581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B5AD1-F09A-4C70-6013-CE25258AC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63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AD74-29E0-3DF9-95B1-C6BBD5CA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DF972-A419-4BE0-5D85-0A46AC7A4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D26B1-12F7-ED1C-C4AF-462A4BA57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07974-0838-17CB-08D9-EBEF41B4B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2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8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6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88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0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5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3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5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2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7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2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018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1D33-82DC-6B9C-52E6-7730E27E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Replikacija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sr-Latn-RS" dirty="0"/>
              <a:t> i visoka dostupnost u </a:t>
            </a:r>
            <a:r>
              <a:rPr lang="sr-Latn-RS" dirty="0" err="1"/>
              <a:t>Clickhouse</a:t>
            </a:r>
            <a:r>
              <a:rPr lang="sr-Latn-RS" dirty="0"/>
              <a:t> sistemu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69B3-CA98-777E-92DE-71382F42A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Seminarski</a:t>
            </a:r>
            <a:r>
              <a:rPr lang="en-US" dirty="0"/>
              <a:t> rad – </a:t>
            </a:r>
            <a:r>
              <a:rPr lang="en-US" dirty="0" err="1"/>
              <a:t>Sistemi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C3CD52F-7C4E-5FF0-B62D-199E26E22A71}"/>
              </a:ext>
            </a:extLst>
          </p:cNvPr>
          <p:cNvSpPr txBox="1">
            <a:spLocks/>
          </p:cNvSpPr>
          <p:nvPr/>
        </p:nvSpPr>
        <p:spPr>
          <a:xfrm>
            <a:off x="581191" y="5669340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Student</a:t>
            </a:r>
          </a:p>
          <a:p>
            <a:r>
              <a:rPr lang="en-US" dirty="0">
                <a:solidFill>
                  <a:schemeClr val="bg1"/>
                </a:solidFill>
              </a:rPr>
              <a:t>Anja Tonsa Milovanović, br. ind. 1815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16361A-7FCB-EEFD-4F40-B969A94C523E}"/>
              </a:ext>
            </a:extLst>
          </p:cNvPr>
          <p:cNvSpPr txBox="1">
            <a:spLocks/>
          </p:cNvSpPr>
          <p:nvPr/>
        </p:nvSpPr>
        <p:spPr>
          <a:xfrm>
            <a:off x="8102379" y="5669340"/>
            <a:ext cx="6057858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MENtor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Prof. dr Aleksandar </a:t>
            </a:r>
            <a:r>
              <a:rPr lang="en-US" dirty="0" err="1">
                <a:solidFill>
                  <a:schemeClr val="bg1"/>
                </a:solidFill>
              </a:rPr>
              <a:t>Stanimirović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7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Replikacija u </a:t>
            </a:r>
            <a:r>
              <a:rPr lang="sr-Latn-RS" dirty="0" err="1"/>
              <a:t>Clickhouse</a:t>
            </a:r>
            <a:r>
              <a:rPr lang="sr-Latn-RS" dirty="0"/>
              <a:t> sistemu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28" y="1804939"/>
            <a:ext cx="11029615" cy="3678303"/>
          </a:xfrm>
        </p:spPr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koji se </a:t>
            </a:r>
            <a:r>
              <a:rPr lang="en-US" dirty="0" err="1"/>
              <a:t>fundamentalno</a:t>
            </a:r>
            <a:r>
              <a:rPr lang="en-US" dirty="0"/>
              <a:t> </a:t>
            </a:r>
            <a:r>
              <a:rPr lang="en-US" dirty="0" err="1"/>
              <a:t>razlikuje</a:t>
            </a:r>
            <a:r>
              <a:rPr lang="en-US" dirty="0"/>
              <a:t> od </a:t>
            </a:r>
            <a:r>
              <a:rPr lang="en-US" dirty="0" err="1"/>
              <a:t>replikacije</a:t>
            </a:r>
            <a:r>
              <a:rPr lang="en-US" dirty="0"/>
              <a:t> u OLTP </a:t>
            </a:r>
            <a:r>
              <a:rPr lang="en-US" dirty="0" err="1"/>
              <a:t>bazama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Replikacija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-u je </a:t>
            </a:r>
            <a:r>
              <a:rPr lang="en-US" dirty="0" err="1"/>
              <a:t>asinhronog</a:t>
            </a:r>
            <a:r>
              <a:rPr lang="en-US" dirty="0"/>
              <a:t>, multi-master </a:t>
            </a:r>
            <a:r>
              <a:rPr lang="en-US" dirty="0" err="1"/>
              <a:t>karaktera</a:t>
            </a:r>
            <a:r>
              <a:rPr lang="en-US" dirty="0"/>
              <a:t>. </a:t>
            </a:r>
            <a:r>
              <a:rPr lang="en-US" dirty="0" err="1"/>
              <a:t>Asinhrona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visoke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en-US" dirty="0"/>
              <a:t>, </a:t>
            </a:r>
            <a:r>
              <a:rPr lang="en-US" dirty="0" err="1"/>
              <a:t>jer</a:t>
            </a:r>
            <a:r>
              <a:rPr lang="en-US" dirty="0"/>
              <a:t> server ne mora da </a:t>
            </a:r>
            <a:r>
              <a:rPr lang="en-US" dirty="0" err="1"/>
              <a:t>čeka</a:t>
            </a:r>
            <a:r>
              <a:rPr lang="en-US" dirty="0"/>
              <a:t> </a:t>
            </a:r>
            <a:r>
              <a:rPr lang="en-US" dirty="0" err="1"/>
              <a:t>potvrdu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pre </a:t>
            </a:r>
            <a:r>
              <a:rPr lang="en-US" dirty="0" err="1"/>
              <a:t>završetka</a:t>
            </a:r>
            <a:r>
              <a:rPr lang="en-US" dirty="0"/>
              <a:t> INSERT </a:t>
            </a:r>
            <a:r>
              <a:rPr lang="en-US" dirty="0" err="1"/>
              <a:t>operacije</a:t>
            </a:r>
            <a:r>
              <a:rPr lang="en-US" dirty="0"/>
              <a:t>.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prihvata</a:t>
            </a:r>
            <a:r>
              <a:rPr lang="en-US" dirty="0"/>
              <a:t> </a:t>
            </a:r>
            <a:r>
              <a:rPr lang="en-US" dirty="0" err="1"/>
              <a:t>upise</a:t>
            </a:r>
            <a:r>
              <a:rPr lang="en-US" dirty="0"/>
              <a:t>, a </a:t>
            </a:r>
            <a:r>
              <a:rPr lang="en-US" dirty="0" err="1"/>
              <a:t>sinhronizacija</a:t>
            </a:r>
            <a:r>
              <a:rPr lang="en-US" dirty="0"/>
              <a:t> se </a:t>
            </a:r>
            <a:r>
              <a:rPr lang="en-US" dirty="0" err="1"/>
              <a:t>odvija</a:t>
            </a:r>
            <a:r>
              <a:rPr lang="en-US" dirty="0"/>
              <a:t> u </a:t>
            </a:r>
            <a:r>
              <a:rPr lang="en-US" dirty="0" err="1"/>
              <a:t>pozadini</a:t>
            </a:r>
            <a:r>
              <a:rPr lang="en-US" dirty="0"/>
              <a:t> </a:t>
            </a:r>
            <a:r>
              <a:rPr lang="en-US" dirty="0" err="1"/>
              <a:t>posredstvom</a:t>
            </a:r>
            <a:r>
              <a:rPr lang="en-US" dirty="0"/>
              <a:t> </a:t>
            </a:r>
            <a:r>
              <a:rPr lang="en-US" dirty="0" err="1"/>
              <a:t>koordinacionog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 </a:t>
            </a:r>
          </a:p>
          <a:p>
            <a:pPr algn="just"/>
            <a:r>
              <a:rPr lang="en-US" dirty="0" err="1"/>
              <a:t>Mehanizam</a:t>
            </a:r>
            <a:r>
              <a:rPr lang="en-US" dirty="0"/>
              <a:t> po </a:t>
            </a:r>
            <a:r>
              <a:rPr lang="en-US" dirty="0" err="1"/>
              <a:t>kom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čuva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i="1" dirty="0"/>
              <a:t>data parts </a:t>
            </a:r>
            <a:r>
              <a:rPr lang="en-US" dirty="0"/>
              <a:t>je </a:t>
            </a:r>
            <a:r>
              <a:rPr lang="en-US" dirty="0" err="1"/>
              <a:t>pogodan</a:t>
            </a:r>
            <a:r>
              <a:rPr lang="en-US" dirty="0"/>
              <a:t> za </a:t>
            </a:r>
            <a:r>
              <a:rPr lang="en-US" dirty="0" err="1"/>
              <a:t>replikaciju</a:t>
            </a:r>
            <a:r>
              <a:rPr lang="en-US" dirty="0"/>
              <a:t>. Ne </a:t>
            </a:r>
            <a:r>
              <a:rPr lang="en-US" dirty="0" err="1"/>
              <a:t>repliciraju</a:t>
            </a:r>
            <a:r>
              <a:rPr lang="en-US" dirty="0"/>
              <a:t> se </a:t>
            </a:r>
            <a:r>
              <a:rPr lang="en-US" dirty="0" err="1"/>
              <a:t>pojedina</a:t>
            </a:r>
            <a:r>
              <a:rPr lang="sr-Latn-RS" dirty="0" err="1"/>
              <a:t>čni</a:t>
            </a:r>
            <a:r>
              <a:rPr lang="sr-Latn-RS" dirty="0"/>
              <a:t> redovi već celi </a:t>
            </a:r>
            <a:r>
              <a:rPr lang="sr-Latn-RS" i="1" dirty="0"/>
              <a:t>data </a:t>
            </a:r>
            <a:r>
              <a:rPr lang="sr-Latn-RS" i="1" dirty="0" err="1"/>
              <a:t>parts</a:t>
            </a:r>
            <a:r>
              <a:rPr lang="sr-Latn-RS" i="1" dirty="0"/>
              <a:t>, </a:t>
            </a:r>
            <a:r>
              <a:rPr lang="sr-Latn-RS" dirty="0"/>
              <a:t>što je pogodno za analitičke sisteme gde se podaci upisuju u velikim </a:t>
            </a:r>
            <a:r>
              <a:rPr lang="sr-Latn-RS" i="1" dirty="0" err="1"/>
              <a:t>batch-evima</a:t>
            </a:r>
            <a:r>
              <a:rPr lang="sr-Latn-RS" i="1" dirty="0"/>
              <a:t>.</a:t>
            </a:r>
            <a:endParaRPr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D697-B5C2-6BCA-3208-DF394687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68DD-33AE-AD6F-05D8-761CC04D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Replikacija u </a:t>
            </a:r>
            <a:r>
              <a:rPr lang="sr-Latn-RS" dirty="0" err="1"/>
              <a:t>Clickhouse</a:t>
            </a:r>
            <a:r>
              <a:rPr lang="sr-Latn-RS" dirty="0"/>
              <a:t> sistemu - </a:t>
            </a:r>
            <a:r>
              <a:rPr lang="sr-Latn-RS" dirty="0" err="1"/>
              <a:t>replicatedMergetree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12E3-3C55-60ED-C717-7C1C28E50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2164167"/>
            <a:ext cx="11029615" cy="3678303"/>
          </a:xfrm>
        </p:spPr>
        <p:txBody>
          <a:bodyPr/>
          <a:lstStyle/>
          <a:p>
            <a:pPr algn="just"/>
            <a:r>
              <a:rPr lang="en-US" dirty="0"/>
              <a:t>U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sistemu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je </a:t>
            </a:r>
            <a:r>
              <a:rPr lang="en-US" dirty="0" err="1"/>
              <a:t>podr</a:t>
            </a:r>
            <a:r>
              <a:rPr lang="sr-Latn-RS" dirty="0" err="1"/>
              <a:t>žana</a:t>
            </a:r>
            <a:r>
              <a:rPr lang="sr-Latn-RS" dirty="0"/>
              <a:t> samo za tabele iz </a:t>
            </a:r>
            <a:r>
              <a:rPr lang="sr-Latn-RS" dirty="0" err="1"/>
              <a:t>ReplicatedMergeTree</a:t>
            </a:r>
            <a:r>
              <a:rPr lang="sr-Latn-RS" dirty="0"/>
              <a:t> familije:</a:t>
            </a:r>
            <a:endParaRPr lang="en-US" dirty="0"/>
          </a:p>
          <a:p>
            <a:pPr lvl="1" algn="just"/>
            <a:r>
              <a:rPr lang="en-US" sz="1800" dirty="0" err="1"/>
              <a:t>ReplicatedMergeTree</a:t>
            </a:r>
            <a:r>
              <a:rPr lang="en-US" sz="1800" dirty="0"/>
              <a:t>,</a:t>
            </a:r>
          </a:p>
          <a:p>
            <a:pPr lvl="1" algn="just"/>
            <a:r>
              <a:rPr lang="sr-Latn-RS" sz="1800" dirty="0" err="1"/>
              <a:t>ReplicatedSummingMergeTree</a:t>
            </a:r>
            <a:r>
              <a:rPr lang="sr-Latn-RS" sz="1800" dirty="0"/>
              <a:t>,</a:t>
            </a:r>
            <a:endParaRPr lang="en-US" sz="1800" dirty="0"/>
          </a:p>
          <a:p>
            <a:pPr lvl="1" algn="just"/>
            <a:r>
              <a:rPr lang="en-US" sz="1800" dirty="0" err="1"/>
              <a:t>ReplicatedAggregatingMergeTree</a:t>
            </a:r>
            <a:endParaRPr lang="en-US" sz="1800" dirty="0"/>
          </a:p>
          <a:p>
            <a:pPr lvl="1" algn="just"/>
            <a:r>
              <a:rPr lang="en-US" sz="1800" dirty="0" err="1"/>
              <a:t>ReplicatedCollapsingMergeTree</a:t>
            </a:r>
            <a:r>
              <a:rPr lang="en-US" sz="1800" dirty="0"/>
              <a:t>.</a:t>
            </a:r>
            <a:endParaRPr lang="sr-Latn-RS" sz="1800" dirty="0"/>
          </a:p>
          <a:p>
            <a:pPr algn="just"/>
            <a:r>
              <a:rPr lang="sr-Latn-RS" dirty="0"/>
              <a:t>R</a:t>
            </a:r>
            <a:r>
              <a:rPr lang="en-US" dirty="0" err="1"/>
              <a:t>azlika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sr-Latn-RS" dirty="0"/>
              <a:t> osnovnog</a:t>
            </a:r>
            <a:r>
              <a:rPr lang="en-US" dirty="0"/>
              <a:t> </a:t>
            </a:r>
            <a:r>
              <a:rPr lang="en-US" dirty="0" err="1"/>
              <a:t>MergeTree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ReplicatedMergeTree</a:t>
            </a:r>
            <a:r>
              <a:rPr lang="sr-Latn-RS" dirty="0"/>
              <a:t> </a:t>
            </a:r>
            <a:r>
              <a:rPr lang="sr-Latn-RS" i="1" dirty="0" err="1"/>
              <a:t>engine</a:t>
            </a:r>
            <a:r>
              <a:rPr lang="sr-Latn-RS" i="1" dirty="0"/>
              <a:t>-a </a:t>
            </a:r>
            <a:r>
              <a:rPr lang="en-US" dirty="0"/>
              <a:t>je u tome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replicirana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operaciji</a:t>
            </a:r>
            <a:r>
              <a:rPr lang="en-US" dirty="0"/>
              <a:t> (INSERT, MERGE, MUTATION) </a:t>
            </a:r>
            <a:r>
              <a:rPr lang="en-US" dirty="0" err="1"/>
              <a:t>upisuje</a:t>
            </a:r>
            <a:r>
              <a:rPr lang="en-US" dirty="0"/>
              <a:t> </a:t>
            </a:r>
            <a:r>
              <a:rPr lang="en-US" dirty="0" err="1"/>
              <a:t>zapis</a:t>
            </a:r>
            <a:r>
              <a:rPr lang="en-US" dirty="0"/>
              <a:t> u </a:t>
            </a:r>
            <a:r>
              <a:rPr lang="en-US" dirty="0" err="1"/>
              <a:t>koordinacioni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. 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130696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A573A-AFB2-9196-6442-88BE0464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BFEA-91B1-BE44-FA7F-A79C64EB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Replikacija u </a:t>
            </a:r>
            <a:r>
              <a:rPr lang="sr-Latn-RS" dirty="0" err="1"/>
              <a:t>Clickhouse</a:t>
            </a:r>
            <a:r>
              <a:rPr lang="sr-Latn-RS" dirty="0"/>
              <a:t> sistemu - </a:t>
            </a:r>
            <a:r>
              <a:rPr lang="sr-Latn-RS" dirty="0" err="1"/>
              <a:t>replicatedMergetree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F4E3-C1C0-D2C8-BD36-BBFA77816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4115431"/>
            <a:ext cx="11029615" cy="3678303"/>
          </a:xfrm>
        </p:spPr>
        <p:txBody>
          <a:bodyPr/>
          <a:lstStyle/>
          <a:p>
            <a:pPr algn="just"/>
            <a:r>
              <a:rPr lang="sr-Latn-RS" dirty="0"/>
              <a:t>Prvi argument je jedinstveni identifikator unutar klastera - predstavlja </a:t>
            </a:r>
            <a:r>
              <a:rPr lang="en-US" dirty="0" err="1"/>
              <a:t>adresu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za </a:t>
            </a:r>
            <a:r>
              <a:rPr lang="en-US" dirty="0" err="1"/>
              <a:t>koordinaciju</a:t>
            </a:r>
            <a:r>
              <a:rPr lang="en-US" dirty="0"/>
              <a:t> koji deli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sr-Latn-RS" dirty="0"/>
              <a:t>Drugi argument je jedinstveni identifikator konkretnog čvora (odnosno ime replike). </a:t>
            </a:r>
            <a:endParaRPr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70089-B783-4B1C-246A-5E2F91CF7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733" y="2131964"/>
            <a:ext cx="5698133" cy="30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A426-BC69-BC41-74DD-92042709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373D-DB26-B840-EC35-B4AE31EB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Koordinacija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- </a:t>
            </a:r>
            <a:r>
              <a:rPr lang="sr-Latn-RS" dirty="0" err="1"/>
              <a:t>Clickhouse</a:t>
            </a:r>
            <a:r>
              <a:rPr lang="sr-Latn-RS" dirty="0"/>
              <a:t> </a:t>
            </a:r>
            <a:r>
              <a:rPr lang="sr-Latn-RS" dirty="0" err="1"/>
              <a:t>keeper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083D-6946-7BC8-DC99-F2D20FB83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ClickHouse</a:t>
            </a:r>
            <a:r>
              <a:rPr lang="en-US" dirty="0"/>
              <a:t> Keeper je </a:t>
            </a:r>
            <a:r>
              <a:rPr lang="en-US" dirty="0" err="1"/>
              <a:t>koordinacioni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napisan</a:t>
            </a:r>
            <a:r>
              <a:rPr lang="en-US" dirty="0"/>
              <a:t> u C++ </a:t>
            </a:r>
            <a:r>
              <a:rPr lang="en-US" dirty="0" err="1"/>
              <a:t>jeziku</a:t>
            </a:r>
            <a:r>
              <a:rPr lang="en-US" dirty="0"/>
              <a:t>, koji je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ugra</a:t>
            </a:r>
            <a:r>
              <a:rPr lang="sr-Latn-RS" dirty="0" err="1"/>
              <a:t>đen</a:t>
            </a:r>
            <a:r>
              <a:rPr lang="sr-Latn-RS" dirty="0"/>
              <a:t> u </a:t>
            </a:r>
            <a:r>
              <a:rPr lang="sr-Latn-RS" dirty="0" err="1"/>
              <a:t>ClickHouse</a:t>
            </a:r>
            <a:r>
              <a:rPr lang="sr-Latn-RS" dirty="0"/>
              <a:t>.</a:t>
            </a:r>
          </a:p>
          <a:p>
            <a:r>
              <a:rPr lang="en-US" dirty="0" err="1"/>
              <a:t>Osnovne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Keeper </a:t>
            </a:r>
            <a:r>
              <a:rPr lang="en-US" dirty="0" err="1"/>
              <a:t>obavlja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: </a:t>
            </a:r>
          </a:p>
          <a:p>
            <a:pPr lvl="1"/>
            <a:r>
              <a:rPr lang="en-US" sz="1800" dirty="0" err="1"/>
              <a:t>čuvanje</a:t>
            </a:r>
            <a:r>
              <a:rPr lang="en-US" sz="1800" dirty="0"/>
              <a:t> </a:t>
            </a:r>
            <a:r>
              <a:rPr lang="en-US" sz="1800" dirty="0" err="1"/>
              <a:t>metapodataka</a:t>
            </a:r>
            <a:r>
              <a:rPr lang="en-US" sz="1800" dirty="0"/>
              <a:t> o </a:t>
            </a:r>
            <a:r>
              <a:rPr lang="en-US" sz="1800" dirty="0" err="1"/>
              <a:t>replikama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 err="1"/>
              <a:t>praćenje</a:t>
            </a:r>
            <a:r>
              <a:rPr lang="en-US" sz="1800" dirty="0"/>
              <a:t> </a:t>
            </a:r>
            <a:r>
              <a:rPr lang="en-US" sz="1800" dirty="0" err="1"/>
              <a:t>stanja</a:t>
            </a:r>
            <a:r>
              <a:rPr lang="en-US" sz="1800" dirty="0"/>
              <a:t> </a:t>
            </a:r>
            <a:r>
              <a:rPr lang="en-US" sz="1800" dirty="0" err="1"/>
              <a:t>čvorova</a:t>
            </a:r>
            <a:r>
              <a:rPr lang="en-US" sz="1800" dirty="0"/>
              <a:t> u </a:t>
            </a:r>
            <a:r>
              <a:rPr lang="en-US" sz="1800" dirty="0" err="1"/>
              <a:t>clusteru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 err="1"/>
              <a:t>koordinacija</a:t>
            </a:r>
            <a:r>
              <a:rPr lang="en-US" sz="1800" dirty="0"/>
              <a:t> </a:t>
            </a:r>
            <a:r>
              <a:rPr lang="en-US" sz="1800" dirty="0" err="1"/>
              <a:t>sinhronizacije</a:t>
            </a:r>
            <a:r>
              <a:rPr lang="en-US" sz="1800" dirty="0"/>
              <a:t> </a:t>
            </a:r>
            <a:r>
              <a:rPr lang="en-US" sz="1800" dirty="0" err="1"/>
              <a:t>podataka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 err="1"/>
              <a:t>detekcija</a:t>
            </a:r>
            <a:r>
              <a:rPr lang="en-US" sz="1800" dirty="0"/>
              <a:t> </a:t>
            </a:r>
            <a:r>
              <a:rPr lang="en-US" sz="1800" dirty="0" err="1"/>
              <a:t>otkaza</a:t>
            </a:r>
            <a:r>
              <a:rPr lang="en-US" sz="1800" dirty="0"/>
              <a:t> </a:t>
            </a:r>
            <a:r>
              <a:rPr lang="sr-Latn-RS" sz="1800" dirty="0"/>
              <a:t>čvora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 err="1"/>
              <a:t>sprečavanje</a:t>
            </a:r>
            <a:r>
              <a:rPr lang="en-US" sz="1800" dirty="0"/>
              <a:t> </a:t>
            </a:r>
            <a:r>
              <a:rPr lang="en-US" sz="1800" dirty="0" err="1"/>
              <a:t>konflikata</a:t>
            </a:r>
            <a:r>
              <a:rPr lang="en-US" sz="1800" dirty="0"/>
              <a:t> </a:t>
            </a:r>
            <a:r>
              <a:rPr lang="en-US" sz="1800" dirty="0" err="1"/>
              <a:t>između</a:t>
            </a:r>
            <a:r>
              <a:rPr lang="en-US" sz="1800" dirty="0"/>
              <a:t> </a:t>
            </a:r>
            <a:r>
              <a:rPr lang="en-US" sz="1800" dirty="0" err="1"/>
              <a:t>replika</a:t>
            </a:r>
            <a:r>
              <a:rPr lang="en-US" sz="1800" dirty="0"/>
              <a:t>.</a:t>
            </a:r>
          </a:p>
          <a:p>
            <a:r>
              <a:rPr lang="sr-Latn-RS" dirty="0"/>
              <a:t>Za koordinaciju replika u </a:t>
            </a:r>
            <a:r>
              <a:rPr lang="sr-Latn-RS" dirty="0" err="1"/>
              <a:t>ClickHouse</a:t>
            </a:r>
            <a:r>
              <a:rPr lang="sr-Latn-RS" dirty="0"/>
              <a:t> sistemu se ranije</a:t>
            </a:r>
            <a:r>
              <a:rPr lang="en-US" dirty="0"/>
              <a:t> </a:t>
            </a:r>
            <a:r>
              <a:rPr lang="en-US" dirty="0" err="1"/>
              <a:t>koristio</a:t>
            </a:r>
            <a:r>
              <a:rPr lang="en-US" dirty="0"/>
              <a:t> Apache </a:t>
            </a:r>
            <a:r>
              <a:rPr lang="en-US" dirty="0" err="1"/>
              <a:t>ZooKeeper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je </a:t>
            </a:r>
            <a:r>
              <a:rPr lang="en-US" dirty="0" err="1"/>
              <a:t>ClickHouse</a:t>
            </a:r>
            <a:r>
              <a:rPr lang="en-US" dirty="0"/>
              <a:t> Keeper </a:t>
            </a:r>
            <a:r>
              <a:rPr lang="en-US" dirty="0" err="1"/>
              <a:t>napravljen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zamena</a:t>
            </a:r>
            <a:r>
              <a:rPr lang="en-US" dirty="0"/>
              <a:t> </a:t>
            </a:r>
            <a:r>
              <a:rPr lang="en-US" dirty="0" err="1"/>
              <a:t>optimizovana</a:t>
            </a:r>
            <a:r>
              <a:rPr lang="en-US" dirty="0"/>
              <a:t> </a:t>
            </a:r>
            <a:r>
              <a:rPr lang="en-US" dirty="0" err="1"/>
              <a:t>baš</a:t>
            </a:r>
            <a:r>
              <a:rPr lang="en-US" dirty="0"/>
              <a:t> za </a:t>
            </a:r>
            <a:r>
              <a:rPr lang="en-US" dirty="0" err="1"/>
              <a:t>ClickHouse</a:t>
            </a:r>
            <a:r>
              <a:rPr lang="en-US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99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A997-1ED9-3E7B-A42A-C6620754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55D4-541C-34ED-91E6-3C177B70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Koordinacija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– </a:t>
            </a:r>
            <a:r>
              <a:rPr lang="sr-Latn-RS" dirty="0" err="1"/>
              <a:t>raft</a:t>
            </a:r>
            <a:r>
              <a:rPr lang="sr-Latn-RS" dirty="0"/>
              <a:t> algoritam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C30A4-27BB-40D7-64A3-04033BB2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Za </a:t>
            </a:r>
            <a:r>
              <a:rPr lang="en-US" dirty="0" err="1"/>
              <a:t>postizanje</a:t>
            </a:r>
            <a:r>
              <a:rPr lang="en-US" dirty="0"/>
              <a:t> </a:t>
            </a:r>
            <a:r>
              <a:rPr lang="en-US" dirty="0" err="1"/>
              <a:t>konsenzusa</a:t>
            </a:r>
            <a:r>
              <a:rPr lang="en-US" dirty="0"/>
              <a:t> </a:t>
            </a:r>
            <a:r>
              <a:rPr lang="en-US" dirty="0" err="1"/>
              <a:t>među</a:t>
            </a:r>
            <a:r>
              <a:rPr lang="en-US" dirty="0"/>
              <a:t> </a:t>
            </a:r>
            <a:r>
              <a:rPr lang="en-US" dirty="0" err="1"/>
              <a:t>replikama</a:t>
            </a:r>
            <a:r>
              <a:rPr lang="en-US" dirty="0"/>
              <a:t> Keeper </a:t>
            </a:r>
            <a:r>
              <a:rPr lang="en-US" dirty="0" err="1"/>
              <a:t>koristi</a:t>
            </a:r>
            <a:r>
              <a:rPr lang="en-US" dirty="0"/>
              <a:t> Raft </a:t>
            </a:r>
            <a:r>
              <a:rPr lang="en-US" dirty="0" err="1"/>
              <a:t>algoritam</a:t>
            </a:r>
            <a:r>
              <a:rPr lang="en-US" dirty="0"/>
              <a:t>. </a:t>
            </a:r>
            <a:endParaRPr lang="sr-Latn-RS" dirty="0"/>
          </a:p>
          <a:p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da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trenutku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koji </a:t>
            </a:r>
            <a:r>
              <a:rPr lang="en-US" dirty="0" err="1"/>
              <a:t>prihvata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zahteve</a:t>
            </a:r>
            <a:r>
              <a:rPr lang="en-US" dirty="0"/>
              <a:t> za </a:t>
            </a:r>
            <a:r>
              <a:rPr lang="en-US" dirty="0" err="1"/>
              <a:t>pisanje</a:t>
            </a:r>
            <a:r>
              <a:rPr lang="en-US" dirty="0"/>
              <a:t>. </a:t>
            </a:r>
            <a:endParaRPr lang="sr-Latn-RS" dirty="0"/>
          </a:p>
          <a:p>
            <a:r>
              <a:rPr lang="en-US" dirty="0"/>
              <a:t>Neka </a:t>
            </a:r>
            <a:r>
              <a:rPr lang="en-US" dirty="0" err="1"/>
              <a:t>odluka</a:t>
            </a:r>
            <a:r>
              <a:rPr lang="en-US" dirty="0"/>
              <a:t> se </a:t>
            </a:r>
            <a:r>
              <a:rPr lang="en-US" dirty="0" err="1"/>
              <a:t>smatra</a:t>
            </a:r>
            <a:r>
              <a:rPr lang="en-US" dirty="0"/>
              <a:t> </a:t>
            </a:r>
            <a:r>
              <a:rPr lang="en-US" dirty="0" err="1"/>
              <a:t>donesenom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je </a:t>
            </a:r>
            <a:r>
              <a:rPr lang="en-US" dirty="0" err="1"/>
              <a:t>potvrdi</a:t>
            </a:r>
            <a:r>
              <a:rPr lang="en-US" dirty="0"/>
              <a:t> </a:t>
            </a:r>
            <a:r>
              <a:rPr lang="en-US" dirty="0" err="1"/>
              <a:t>većina</a:t>
            </a:r>
            <a:r>
              <a:rPr lang="en-US" dirty="0"/>
              <a:t> </a:t>
            </a:r>
            <a:r>
              <a:rPr lang="en-US" dirty="0" err="1"/>
              <a:t>čvorova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kvorum</a:t>
            </a:r>
            <a:r>
              <a:rPr lang="en-US" dirty="0"/>
              <a:t>. </a:t>
            </a:r>
            <a:endParaRPr lang="sr-Latn-RS" dirty="0"/>
          </a:p>
          <a:p>
            <a:r>
              <a:rPr lang="en-US" dirty="0"/>
              <a:t>Keeper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neparan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čvorova</a:t>
            </a:r>
            <a:r>
              <a:rPr lang="en-US" dirty="0"/>
              <a:t> da bi </a:t>
            </a:r>
            <a:r>
              <a:rPr lang="en-US" dirty="0" err="1"/>
              <a:t>mogao</a:t>
            </a:r>
            <a:r>
              <a:rPr lang="en-US" dirty="0"/>
              <a:t> da </a:t>
            </a:r>
            <a:r>
              <a:rPr lang="en-US" dirty="0" err="1"/>
              <a:t>postigne</a:t>
            </a:r>
            <a:r>
              <a:rPr lang="en-US" dirty="0"/>
              <a:t> </a:t>
            </a:r>
            <a:r>
              <a:rPr lang="en-US" dirty="0" err="1"/>
              <a:t>kvorum</a:t>
            </a:r>
            <a:r>
              <a:rPr lang="en-US" dirty="0"/>
              <a:t>. Za </a:t>
            </a:r>
            <a:r>
              <a:rPr lang="en-US" dirty="0" err="1"/>
              <a:t>klaster</a:t>
            </a:r>
            <a:r>
              <a:rPr lang="en-US" dirty="0"/>
              <a:t> od N </a:t>
            </a:r>
            <a:r>
              <a:rPr lang="en-US" dirty="0" err="1"/>
              <a:t>čvorova</a:t>
            </a:r>
            <a:r>
              <a:rPr lang="en-US" dirty="0"/>
              <a:t>, </a:t>
            </a:r>
            <a:r>
              <a:rPr lang="en-US" dirty="0" err="1"/>
              <a:t>maksimalan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otkaza</a:t>
            </a:r>
            <a:r>
              <a:rPr lang="en-US" dirty="0"/>
              <a:t> koji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tolerisati</a:t>
            </a:r>
            <a:r>
              <a:rPr lang="en-US" dirty="0"/>
              <a:t> je ⌊N/2⌋.</a:t>
            </a:r>
          </a:p>
        </p:txBody>
      </p:sp>
    </p:spTree>
    <p:extLst>
      <p:ext uri="{BB962C8B-B14F-4D97-AF65-F5344CB8AC3E}">
        <p14:creationId xmlns:p14="http://schemas.microsoft.com/office/powerpoint/2010/main" val="134041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6FB6-83F8-01CD-6291-935B141F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CACA-4D75-D1B0-CEE3-3EFC00C9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Koordinacija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– </a:t>
            </a:r>
            <a:r>
              <a:rPr lang="sr-Latn-RS" dirty="0"/>
              <a:t>Tok replikacije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7D751-C6ED-9CE4-FAF4-A26A578F2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Kada </a:t>
            </a:r>
            <a:r>
              <a:rPr lang="en-US" dirty="0" err="1"/>
              <a:t>klijent</a:t>
            </a:r>
            <a:r>
              <a:rPr lang="en-US" dirty="0"/>
              <a:t> </a:t>
            </a:r>
            <a:r>
              <a:rPr lang="en-US" dirty="0" err="1"/>
              <a:t>pošalje</a:t>
            </a:r>
            <a:r>
              <a:rPr lang="en-US" dirty="0"/>
              <a:t> INSERT </a:t>
            </a:r>
            <a:r>
              <a:rPr lang="en-US" dirty="0" err="1"/>
              <a:t>odvija</a:t>
            </a:r>
            <a:r>
              <a:rPr lang="en-US" dirty="0"/>
              <a:t> se </a:t>
            </a:r>
            <a:r>
              <a:rPr lang="en-US" dirty="0" err="1"/>
              <a:t>sledeći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:</a:t>
            </a:r>
          </a:p>
          <a:p>
            <a:pPr lvl="1"/>
            <a:r>
              <a:rPr lang="en-US" sz="1800" dirty="0" err="1"/>
              <a:t>Replika</a:t>
            </a:r>
            <a:r>
              <a:rPr lang="en-US" sz="1800" dirty="0"/>
              <a:t> </a:t>
            </a:r>
            <a:r>
              <a:rPr lang="en-US" sz="1800" dirty="0" err="1"/>
              <a:t>koja</a:t>
            </a:r>
            <a:r>
              <a:rPr lang="en-US" sz="1800" dirty="0"/>
              <a:t> prima </a:t>
            </a:r>
            <a:r>
              <a:rPr lang="en-US" sz="1800" dirty="0" err="1"/>
              <a:t>upit</a:t>
            </a:r>
            <a:r>
              <a:rPr lang="en-US" sz="1800" dirty="0"/>
              <a:t> </a:t>
            </a:r>
            <a:r>
              <a:rPr lang="en-US" sz="1800" dirty="0" err="1"/>
              <a:t>upisuje</a:t>
            </a:r>
            <a:r>
              <a:rPr lang="en-US" sz="1800" dirty="0"/>
              <a:t> </a:t>
            </a:r>
            <a:r>
              <a:rPr lang="en-US" sz="1800" dirty="0" err="1"/>
              <a:t>podatke</a:t>
            </a:r>
            <a:r>
              <a:rPr lang="en-US" sz="1800" dirty="0"/>
              <a:t> </a:t>
            </a:r>
            <a:r>
              <a:rPr lang="en-US" sz="1800" dirty="0" err="1"/>
              <a:t>lokalno</a:t>
            </a:r>
            <a:r>
              <a:rPr lang="en-US" sz="1800" dirty="0"/>
              <a:t> </a:t>
            </a:r>
            <a:r>
              <a:rPr lang="en-US" sz="1800" dirty="0" err="1"/>
              <a:t>kao</a:t>
            </a:r>
            <a:r>
              <a:rPr lang="en-US" sz="1800" dirty="0"/>
              <a:t> novi </a:t>
            </a:r>
            <a:r>
              <a:rPr lang="en-US" sz="1800" i="1" dirty="0"/>
              <a:t>data part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kreira</a:t>
            </a:r>
            <a:r>
              <a:rPr lang="en-US" sz="1800" dirty="0"/>
              <a:t> log </a:t>
            </a:r>
            <a:r>
              <a:rPr lang="en-US" sz="1800" dirty="0" err="1"/>
              <a:t>unos</a:t>
            </a:r>
            <a:r>
              <a:rPr lang="en-US" sz="1800" dirty="0"/>
              <a:t> u Keeper-u.</a:t>
            </a:r>
          </a:p>
          <a:p>
            <a:pPr lvl="1"/>
            <a:r>
              <a:rPr lang="en-US" sz="1800" dirty="0" err="1"/>
              <a:t>Ostale</a:t>
            </a:r>
            <a:r>
              <a:rPr lang="en-US" sz="1800" dirty="0"/>
              <a:t> </a:t>
            </a:r>
            <a:r>
              <a:rPr lang="en-US" sz="1800" dirty="0" err="1"/>
              <a:t>replike</a:t>
            </a:r>
            <a:r>
              <a:rPr lang="en-US" sz="1800" dirty="0"/>
              <a:t> </a:t>
            </a:r>
            <a:r>
              <a:rPr lang="en-US" sz="1800" dirty="0" err="1"/>
              <a:t>detektuju</a:t>
            </a:r>
            <a:r>
              <a:rPr lang="en-US" sz="1800" dirty="0"/>
              <a:t> novi log </a:t>
            </a:r>
            <a:r>
              <a:rPr lang="en-US" sz="1800" dirty="0" err="1"/>
              <a:t>unos</a:t>
            </a:r>
            <a:r>
              <a:rPr lang="en-US" sz="1800" dirty="0"/>
              <a:t> </a:t>
            </a:r>
            <a:r>
              <a:rPr lang="en-US" sz="1800" dirty="0" err="1"/>
              <a:t>posmatranjem</a:t>
            </a:r>
            <a:r>
              <a:rPr lang="en-US" sz="1800" dirty="0"/>
              <a:t> Keeper-a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preuzimaju</a:t>
            </a:r>
            <a:r>
              <a:rPr lang="en-US" sz="1800" dirty="0"/>
              <a:t> </a:t>
            </a:r>
            <a:r>
              <a:rPr lang="en-US" sz="1800" i="1" dirty="0"/>
              <a:t>data part</a:t>
            </a:r>
            <a:r>
              <a:rPr lang="en-US" sz="1800" dirty="0"/>
              <a:t> </a:t>
            </a:r>
            <a:r>
              <a:rPr lang="en-US" sz="1800" dirty="0" err="1"/>
              <a:t>direktno</a:t>
            </a:r>
            <a:r>
              <a:rPr lang="en-US" sz="1800" dirty="0"/>
              <a:t> od </a:t>
            </a:r>
            <a:r>
              <a:rPr lang="en-US" sz="1800" dirty="0" err="1"/>
              <a:t>izvorne</a:t>
            </a:r>
            <a:r>
              <a:rPr lang="en-US" sz="1800" dirty="0"/>
              <a:t> </a:t>
            </a:r>
            <a:r>
              <a:rPr lang="en-US" sz="1800" dirty="0" err="1"/>
              <a:t>replike</a:t>
            </a:r>
            <a:r>
              <a:rPr lang="en-US" sz="1800" dirty="0"/>
              <a:t> </a:t>
            </a:r>
            <a:r>
              <a:rPr lang="en-US" sz="1800" dirty="0" err="1"/>
              <a:t>putem</a:t>
            </a:r>
            <a:r>
              <a:rPr lang="en-US" sz="1800" dirty="0"/>
              <a:t> HTTP-a.</a:t>
            </a:r>
          </a:p>
          <a:p>
            <a:pPr lvl="1"/>
            <a:r>
              <a:rPr lang="en-US" sz="1800" dirty="0" err="1"/>
              <a:t>Svaki</a:t>
            </a:r>
            <a:r>
              <a:rPr lang="en-US" sz="1800" dirty="0"/>
              <a:t> </a:t>
            </a:r>
            <a:r>
              <a:rPr lang="en-US" sz="1800" dirty="0" err="1"/>
              <a:t>preuzeti</a:t>
            </a:r>
            <a:r>
              <a:rPr lang="en-US" sz="1800" dirty="0"/>
              <a:t> </a:t>
            </a:r>
            <a:r>
              <a:rPr lang="en-US" sz="1800" i="1" dirty="0"/>
              <a:t>data part</a:t>
            </a:r>
            <a:r>
              <a:rPr lang="en-US" sz="1800" dirty="0"/>
              <a:t> se </a:t>
            </a:r>
            <a:r>
              <a:rPr lang="en-US" sz="1800" dirty="0" err="1"/>
              <a:t>verifikuje</a:t>
            </a:r>
            <a:r>
              <a:rPr lang="en-US" sz="1800" dirty="0"/>
              <a:t> </a:t>
            </a:r>
            <a:r>
              <a:rPr lang="en-US" sz="1800" dirty="0" err="1"/>
              <a:t>checksumom</a:t>
            </a:r>
            <a:r>
              <a:rPr lang="en-US" sz="1800" dirty="0"/>
              <a:t> pre </a:t>
            </a:r>
            <a:r>
              <a:rPr lang="en-US" sz="1800" dirty="0" err="1"/>
              <a:t>nego</a:t>
            </a:r>
            <a:r>
              <a:rPr lang="en-US" sz="1800" dirty="0"/>
              <a:t> </a:t>
            </a:r>
            <a:r>
              <a:rPr lang="en-US" sz="1800" dirty="0" err="1"/>
              <a:t>što</a:t>
            </a:r>
            <a:r>
              <a:rPr lang="en-US" sz="1800" dirty="0"/>
              <a:t> se </a:t>
            </a:r>
            <a:r>
              <a:rPr lang="en-US" sz="1800" dirty="0" err="1"/>
              <a:t>prihvati</a:t>
            </a:r>
            <a:r>
              <a:rPr lang="en-US" sz="1800" dirty="0"/>
              <a:t> </a:t>
            </a:r>
            <a:r>
              <a:rPr lang="en-US" sz="1800" dirty="0" err="1"/>
              <a:t>kao</a:t>
            </a:r>
            <a:r>
              <a:rPr lang="en-US" sz="1800" dirty="0"/>
              <a:t> </a:t>
            </a:r>
            <a:r>
              <a:rPr lang="en-US" sz="1800" dirty="0" err="1"/>
              <a:t>validan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45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0D23-D08E-1C15-F041-0CF5BD8F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B21B-EBB8-FF0F-F29F-BCBB4948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Mehanizmi </a:t>
            </a:r>
            <a:r>
              <a:rPr lang="sr-Latn-RS" dirty="0" err="1"/>
              <a:t>resinhr</a:t>
            </a:r>
            <a:r>
              <a:rPr lang="en-US" dirty="0"/>
              <a:t>o</a:t>
            </a:r>
            <a:r>
              <a:rPr lang="sr-Latn-RS" dirty="0" err="1"/>
              <a:t>nizacije</a:t>
            </a:r>
            <a:r>
              <a:rPr lang="sr-Latn-RS" dirty="0"/>
              <a:t> – </a:t>
            </a:r>
            <a:r>
              <a:rPr lang="sr-Latn-RS" dirty="0" err="1"/>
              <a:t>replikacioni</a:t>
            </a:r>
            <a:r>
              <a:rPr lang="sr-Latn-RS" dirty="0"/>
              <a:t> log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17381-BE0E-2A19-EC71-5C332C7C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47839"/>
            <a:ext cx="11029615" cy="3678303"/>
          </a:xfrm>
        </p:spPr>
        <p:txBody>
          <a:bodyPr/>
          <a:lstStyle/>
          <a:p>
            <a:pPr algn="just"/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replicirana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sopstveni</a:t>
            </a:r>
            <a:r>
              <a:rPr lang="en-US" dirty="0"/>
              <a:t> </a:t>
            </a:r>
            <a:r>
              <a:rPr lang="en-US" dirty="0" err="1"/>
              <a:t>replikacioni</a:t>
            </a:r>
            <a:r>
              <a:rPr lang="en-US" dirty="0"/>
              <a:t> log u Keeper-u, </a:t>
            </a:r>
            <a:r>
              <a:rPr lang="en-US" dirty="0" err="1"/>
              <a:t>smešten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putanji</a:t>
            </a:r>
            <a:r>
              <a:rPr lang="en-US" dirty="0"/>
              <a:t> /</a:t>
            </a:r>
            <a:r>
              <a:rPr lang="en-US" dirty="0" err="1"/>
              <a:t>clickhouse</a:t>
            </a:r>
            <a:r>
              <a:rPr lang="en-US" dirty="0"/>
              <a:t>/{cluster}/tables/{shard}/{table}/log/. </a:t>
            </a:r>
            <a:r>
              <a:rPr lang="en-US" dirty="0" err="1"/>
              <a:t>Ovaj</a:t>
            </a:r>
            <a:r>
              <a:rPr lang="en-US" dirty="0"/>
              <a:t> log je </a:t>
            </a:r>
            <a:r>
              <a:rPr lang="en-US" dirty="0" err="1"/>
              <a:t>sekvencijalni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LogEntry</a:t>
            </a:r>
            <a:r>
              <a:rPr lang="en-US" dirty="0"/>
              <a:t> </a:t>
            </a:r>
            <a:r>
              <a:rPr lang="en-US" dirty="0" err="1"/>
              <a:t>zapisa</a:t>
            </a:r>
            <a:r>
              <a:rPr lang="en-US" dirty="0"/>
              <a:t>.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zapis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operaciju</a:t>
            </a:r>
            <a:r>
              <a:rPr lang="en-US" dirty="0"/>
              <a:t>: </a:t>
            </a:r>
          </a:p>
          <a:p>
            <a:pPr lvl="1"/>
            <a:r>
              <a:rPr lang="en-US" sz="1800" dirty="0"/>
              <a:t>GET_PART  - </a:t>
            </a:r>
            <a:r>
              <a:rPr lang="en-US" sz="1800" dirty="0" err="1"/>
              <a:t>preuzmi</a:t>
            </a:r>
            <a:r>
              <a:rPr lang="en-US" sz="1800" dirty="0"/>
              <a:t> part od </a:t>
            </a:r>
            <a:r>
              <a:rPr lang="en-US" sz="1800" dirty="0" err="1"/>
              <a:t>druge</a:t>
            </a:r>
            <a:r>
              <a:rPr lang="en-US" sz="1800" dirty="0"/>
              <a:t> </a:t>
            </a:r>
            <a:r>
              <a:rPr lang="en-US" sz="1800" dirty="0" err="1"/>
              <a:t>replike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/>
              <a:t>MERGE_PARTS – </a:t>
            </a:r>
            <a:r>
              <a:rPr lang="en-US" sz="1800" dirty="0" err="1"/>
              <a:t>spoji</a:t>
            </a:r>
            <a:r>
              <a:rPr lang="en-US" sz="1800" dirty="0"/>
              <a:t> </a:t>
            </a:r>
            <a:r>
              <a:rPr lang="en-US" sz="1800" i="1" dirty="0"/>
              <a:t>data parts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/>
              <a:t>MUTATE_PART - </a:t>
            </a:r>
            <a:r>
              <a:rPr lang="en-US" sz="1800" dirty="0" err="1"/>
              <a:t>primeni</a:t>
            </a:r>
            <a:r>
              <a:rPr lang="en-US" sz="1800" dirty="0"/>
              <a:t> </a:t>
            </a:r>
            <a:r>
              <a:rPr lang="en-US" sz="1800" dirty="0" err="1"/>
              <a:t>mutaciju</a:t>
            </a:r>
            <a:r>
              <a:rPr lang="en-US" sz="1800" dirty="0"/>
              <a:t>, </a:t>
            </a:r>
          </a:p>
          <a:p>
            <a:pPr lvl="1"/>
            <a:r>
              <a:rPr lang="en-US" sz="1800" dirty="0"/>
              <a:t>DROP_RANGE - </a:t>
            </a:r>
            <a:r>
              <a:rPr lang="en-US" sz="1800" dirty="0" err="1"/>
              <a:t>obriši</a:t>
            </a:r>
            <a:r>
              <a:rPr lang="en-US" sz="1800" dirty="0"/>
              <a:t> </a:t>
            </a:r>
            <a:r>
              <a:rPr lang="en-US" sz="1800" dirty="0" err="1"/>
              <a:t>opseg</a:t>
            </a:r>
            <a:r>
              <a:rPr lang="en-US" sz="1800" dirty="0"/>
              <a:t> </a:t>
            </a:r>
            <a:r>
              <a:rPr lang="en-US" sz="1800" i="1" dirty="0"/>
              <a:t>data parts</a:t>
            </a:r>
            <a:r>
              <a:rPr lang="en-US" sz="1800" dirty="0"/>
              <a:t>.</a:t>
            </a:r>
          </a:p>
          <a:p>
            <a:pPr algn="just"/>
            <a:r>
              <a:rPr lang="en-US" dirty="0" err="1"/>
              <a:t>Replike</a:t>
            </a:r>
            <a:r>
              <a:rPr lang="en-US" dirty="0"/>
              <a:t> ne </a:t>
            </a:r>
            <a:r>
              <a:rPr lang="en-US" dirty="0" err="1"/>
              <a:t>čuvaju</a:t>
            </a:r>
            <a:r>
              <a:rPr lang="en-US" dirty="0"/>
              <a:t> same </a:t>
            </a:r>
            <a:r>
              <a:rPr lang="en-US" dirty="0" err="1"/>
              <a:t>podatke</a:t>
            </a:r>
            <a:r>
              <a:rPr lang="en-US" dirty="0"/>
              <a:t> u Keeper-u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pokazivač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poziciju</a:t>
            </a:r>
            <a:r>
              <a:rPr lang="en-US" dirty="0"/>
              <a:t> u </a:t>
            </a:r>
            <a:r>
              <a:rPr lang="en-US" dirty="0" err="1"/>
              <a:t>logu</a:t>
            </a:r>
            <a:r>
              <a:rPr lang="en-US" dirty="0"/>
              <a:t> do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stigle</a:t>
            </a:r>
            <a:r>
              <a:rPr lang="en-US" dirty="0"/>
              <a:t>. Kada nova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počne</a:t>
            </a:r>
            <a:r>
              <a:rPr lang="en-US" dirty="0"/>
              <a:t> da </a:t>
            </a:r>
            <a:r>
              <a:rPr lang="en-US" dirty="0" err="1"/>
              <a:t>zaostaje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jednostavno</a:t>
            </a:r>
            <a:r>
              <a:rPr lang="en-US" dirty="0"/>
              <a:t> </a:t>
            </a:r>
            <a:r>
              <a:rPr lang="en-US" dirty="0" err="1"/>
              <a:t>čita</a:t>
            </a:r>
            <a:r>
              <a:rPr lang="en-US" dirty="0"/>
              <a:t> log od </a:t>
            </a:r>
            <a:r>
              <a:rPr lang="en-US" dirty="0" err="1"/>
              <a:t>svoje</a:t>
            </a:r>
            <a:r>
              <a:rPr lang="en-US" dirty="0"/>
              <a:t> </a:t>
            </a:r>
            <a:r>
              <a:rPr lang="en-US" dirty="0" err="1"/>
              <a:t>poslednje</a:t>
            </a:r>
            <a:r>
              <a:rPr lang="en-US" dirty="0"/>
              <a:t> </a:t>
            </a:r>
            <a:r>
              <a:rPr lang="en-US" dirty="0" err="1"/>
              <a:t>pozicije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je </a:t>
            </a:r>
            <a:r>
              <a:rPr lang="en-US" dirty="0" err="1"/>
              <a:t>propustila</a:t>
            </a:r>
            <a:r>
              <a:rPr lang="en-US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599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BF98-3BB0-EF1C-2066-C129BFFC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B721-1DA9-699C-68E0-F2652C1A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Konzistentnost i dostupnost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14EF-D22D-AF9D-135C-40A8EFF8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je po </a:t>
            </a:r>
            <a:r>
              <a:rPr lang="en-US" dirty="0" err="1"/>
              <a:t>defaultu</a:t>
            </a:r>
            <a:r>
              <a:rPr lang="en-US" dirty="0"/>
              <a:t> AP,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nudi</a:t>
            </a:r>
            <a:r>
              <a:rPr lang="en-US" dirty="0"/>
              <a:t> </a:t>
            </a:r>
            <a:r>
              <a:rPr lang="en-US" dirty="0" err="1"/>
              <a:t>mehanizme</a:t>
            </a:r>
            <a:r>
              <a:rPr lang="en-US" dirty="0"/>
              <a:t> koji ga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pomeriti</a:t>
            </a:r>
            <a:r>
              <a:rPr lang="en-US" dirty="0"/>
              <a:t> ka CP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cenu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latencije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Moguće</a:t>
            </a:r>
            <a:r>
              <a:rPr lang="en-US" dirty="0"/>
              <a:t> je </a:t>
            </a:r>
            <a:r>
              <a:rPr lang="en-US" dirty="0" err="1"/>
              <a:t>obezbediti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garancije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i="1" dirty="0"/>
              <a:t>quorum inserts. </a:t>
            </a:r>
            <a:endParaRPr lang="en-US" dirty="0"/>
          </a:p>
          <a:p>
            <a:pPr algn="just"/>
            <a:r>
              <a:rPr lang="en-US" dirty="0"/>
              <a:t>Kada je </a:t>
            </a:r>
            <a:r>
              <a:rPr lang="en-US" i="1" dirty="0" err="1"/>
              <a:t>insert_quorum</a:t>
            </a:r>
            <a:r>
              <a:rPr lang="en-US" dirty="0"/>
              <a:t> </a:t>
            </a:r>
            <a:r>
              <a:rPr lang="en-US" dirty="0" err="1"/>
              <a:t>aktivan</a:t>
            </a:r>
            <a:r>
              <a:rPr lang="en-US" dirty="0"/>
              <a:t>, </a:t>
            </a:r>
            <a:r>
              <a:rPr lang="en-US" dirty="0" err="1"/>
              <a:t>koordinator</a:t>
            </a:r>
            <a:r>
              <a:rPr lang="en-US" dirty="0"/>
              <a:t> </a:t>
            </a:r>
            <a:r>
              <a:rPr lang="en-US" dirty="0" err="1"/>
              <a:t>blokira</a:t>
            </a:r>
            <a:r>
              <a:rPr lang="en-US" dirty="0"/>
              <a:t> </a:t>
            </a:r>
            <a:r>
              <a:rPr lang="en-US" dirty="0" err="1"/>
              <a:t>odgovor</a:t>
            </a:r>
            <a:r>
              <a:rPr lang="en-US" dirty="0"/>
              <a:t> </a:t>
            </a:r>
            <a:r>
              <a:rPr lang="en-US" dirty="0" err="1"/>
              <a:t>klijentu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traženi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ne </a:t>
            </a:r>
            <a:r>
              <a:rPr lang="en-US" dirty="0" err="1"/>
              <a:t>potvrdi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upisale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. Ako </a:t>
            </a:r>
            <a:r>
              <a:rPr lang="en-US" dirty="0" err="1"/>
              <a:t>kvorum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do</a:t>
            </a:r>
            <a:r>
              <a:rPr lang="sr-Latn-RS" dirty="0"/>
              <a:t>s</a:t>
            </a:r>
            <a:r>
              <a:rPr lang="en-US" dirty="0" err="1"/>
              <a:t>tignut</a:t>
            </a:r>
            <a:r>
              <a:rPr lang="en-US" dirty="0"/>
              <a:t> u </a:t>
            </a:r>
            <a:r>
              <a:rPr lang="en-US" dirty="0" err="1"/>
              <a:t>zadatom</a:t>
            </a:r>
            <a:r>
              <a:rPr lang="en-US" dirty="0"/>
              <a:t> </a:t>
            </a:r>
            <a:r>
              <a:rPr lang="en-US" i="1" dirty="0"/>
              <a:t>timeout</a:t>
            </a:r>
            <a:r>
              <a:rPr lang="en-US" dirty="0"/>
              <a:t> </a:t>
            </a:r>
            <a:r>
              <a:rPr lang="en-US" dirty="0" err="1"/>
              <a:t>intervalu</a:t>
            </a:r>
            <a:r>
              <a:rPr lang="en-US" dirty="0"/>
              <a:t>, INSERT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validan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klijent</a:t>
            </a:r>
            <a:r>
              <a:rPr lang="en-US" dirty="0"/>
              <a:t> mora da </a:t>
            </a:r>
            <a:r>
              <a:rPr lang="en-US" dirty="0" err="1"/>
              <a:t>ponovi</a:t>
            </a:r>
            <a:r>
              <a:rPr lang="en-US" dirty="0"/>
              <a:t> </a:t>
            </a:r>
            <a:r>
              <a:rPr lang="en-US" dirty="0" err="1"/>
              <a:t>zahtev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1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2A32-444A-16F6-6D65-511B1D72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41D0-40E4-9857-AC49-5F701587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Distribuirana arhitektura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A1424-2914-F7F3-8B09-966FA6A6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arhitektura</a:t>
            </a:r>
            <a:r>
              <a:rPr lang="en-US" dirty="0"/>
              <a:t> je </a:t>
            </a:r>
            <a:r>
              <a:rPr lang="en-US" dirty="0" err="1"/>
              <a:t>koncipirana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prirodno</a:t>
            </a:r>
            <a:r>
              <a:rPr lang="en-US" dirty="0"/>
              <a:t> </a:t>
            </a:r>
            <a:r>
              <a:rPr lang="en-US" dirty="0" err="1"/>
              <a:t>favorizuje</a:t>
            </a:r>
            <a:r>
              <a:rPr lang="en-US" dirty="0"/>
              <a:t> </a:t>
            </a:r>
            <a:r>
              <a:rPr lang="en-US" dirty="0" err="1"/>
              <a:t>vertikalno</a:t>
            </a:r>
            <a:r>
              <a:rPr lang="en-US" dirty="0"/>
              <a:t> </a:t>
            </a:r>
            <a:r>
              <a:rPr lang="en-US" dirty="0" err="1"/>
              <a:t>skaliranje</a:t>
            </a:r>
            <a:r>
              <a:rPr lang="en-US" dirty="0"/>
              <a:t> (</a:t>
            </a:r>
            <a:r>
              <a:rPr lang="en-US" i="1" dirty="0"/>
              <a:t>scale-up</a:t>
            </a:r>
            <a:r>
              <a:rPr lang="en-US" dirty="0"/>
              <a:t>)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horizontalno</a:t>
            </a:r>
            <a:r>
              <a:rPr lang="sr-Latn-RS" dirty="0"/>
              <a:t>. O</a:t>
            </a:r>
            <a:r>
              <a:rPr lang="en-US" dirty="0" err="1"/>
              <a:t>vo</a:t>
            </a:r>
            <a:r>
              <a:rPr lang="en-US" dirty="0"/>
              <a:t> je </a:t>
            </a:r>
            <a:r>
              <a:rPr lang="en-US" dirty="0" err="1"/>
              <a:t>velika</a:t>
            </a:r>
            <a:r>
              <a:rPr lang="en-US" dirty="0"/>
              <a:t>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drugih</a:t>
            </a:r>
            <a:r>
              <a:rPr lang="en-US" dirty="0"/>
              <a:t> </a:t>
            </a:r>
            <a:r>
              <a:rPr lang="en-US" dirty="0" err="1"/>
              <a:t>distribuiranih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za </a:t>
            </a:r>
            <a:r>
              <a:rPr lang="en-US" dirty="0" err="1"/>
              <a:t>velike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sr-Latn-RS" dirty="0"/>
              <a:t>.</a:t>
            </a:r>
          </a:p>
          <a:p>
            <a:pPr algn="just"/>
            <a:r>
              <a:rPr lang="en-US" dirty="0"/>
              <a:t>Distributed engine je </a:t>
            </a:r>
            <a:r>
              <a:rPr lang="en-US" dirty="0" err="1"/>
              <a:t>logička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ne </a:t>
            </a:r>
            <a:r>
              <a:rPr lang="en-US" dirty="0" err="1"/>
              <a:t>čuva</a:t>
            </a:r>
            <a:r>
              <a:rPr lang="en-US" dirty="0"/>
              <a:t> same </a:t>
            </a:r>
            <a:r>
              <a:rPr lang="en-US" dirty="0" err="1"/>
              <a:t>podatke</a:t>
            </a:r>
            <a:r>
              <a:rPr lang="en-US" dirty="0"/>
              <a:t>. </a:t>
            </a:r>
            <a:r>
              <a:rPr lang="en-US" dirty="0" err="1"/>
              <a:t>Njena</a:t>
            </a:r>
            <a:r>
              <a:rPr lang="en-US" dirty="0"/>
              <a:t> </a:t>
            </a:r>
            <a:r>
              <a:rPr lang="en-US" dirty="0" err="1"/>
              <a:t>jedina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je da </a:t>
            </a:r>
            <a:r>
              <a:rPr lang="en-US" dirty="0" err="1"/>
              <a:t>zna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 </a:t>
            </a:r>
            <a:r>
              <a:rPr lang="en-US" dirty="0" err="1"/>
              <a:t>prave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usmerava</a:t>
            </a:r>
            <a:r>
              <a:rPr lang="en-US" dirty="0"/>
              <a:t> </a:t>
            </a:r>
            <a:r>
              <a:rPr lang="en-US" dirty="0" err="1"/>
              <a:t>upite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upisivanja</a:t>
            </a:r>
            <a:r>
              <a:rPr lang="en-US" dirty="0"/>
              <a:t> ka </a:t>
            </a:r>
            <a:r>
              <a:rPr lang="en-US" dirty="0" err="1"/>
              <a:t>njima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40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RS" dirty="0"/>
              <a:t>K</a:t>
            </a:r>
            <a:r>
              <a:rPr lang="en-US" dirty="0" err="1"/>
              <a:t>orišćenjem</a:t>
            </a:r>
            <a:r>
              <a:rPr lang="en-US" dirty="0"/>
              <a:t> Docker </a:t>
            </a:r>
            <a:r>
              <a:rPr lang="en-US" dirty="0" err="1"/>
              <a:t>tehnologije</a:t>
            </a:r>
            <a:r>
              <a:rPr lang="sr-Latn-RS" dirty="0"/>
              <a:t> </a:t>
            </a:r>
            <a:r>
              <a:rPr lang="en-US" dirty="0" err="1"/>
              <a:t>postavljen</a:t>
            </a:r>
            <a:r>
              <a:rPr lang="en-US" dirty="0"/>
              <a:t> je </a:t>
            </a:r>
            <a:r>
              <a:rPr lang="en-US" dirty="0" err="1"/>
              <a:t>minimalni</a:t>
            </a:r>
            <a:r>
              <a:rPr lang="en-US" dirty="0"/>
              <a:t> </a:t>
            </a:r>
            <a:r>
              <a:rPr lang="en-US" dirty="0" err="1"/>
              <a:t>klaster</a:t>
            </a:r>
            <a:r>
              <a:rPr lang="sr-Latn-RS" dirty="0"/>
              <a:t> koji se</a:t>
            </a:r>
            <a:r>
              <a:rPr lang="en-US" dirty="0"/>
              <a:t> </a:t>
            </a:r>
            <a:r>
              <a:rPr lang="en-US" dirty="0" err="1"/>
              <a:t>sastoji</a:t>
            </a:r>
            <a:r>
              <a:rPr lang="en-US" dirty="0"/>
              <a:t> od </a:t>
            </a:r>
            <a:r>
              <a:rPr lang="en-US" dirty="0" err="1"/>
              <a:t>šest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: tri </a:t>
            </a:r>
            <a:r>
              <a:rPr lang="en-US" dirty="0" err="1"/>
              <a:t>ClickHouse</a:t>
            </a:r>
            <a:r>
              <a:rPr lang="en-US" dirty="0"/>
              <a:t> Server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tri </a:t>
            </a:r>
            <a:r>
              <a:rPr lang="en-US" dirty="0" err="1"/>
              <a:t>ClickHouse</a:t>
            </a:r>
            <a:r>
              <a:rPr lang="en-US" dirty="0"/>
              <a:t> Keeper </a:t>
            </a:r>
            <a:r>
              <a:rPr lang="en-US" dirty="0" err="1"/>
              <a:t>čvora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ClickHouse</a:t>
            </a:r>
            <a:r>
              <a:rPr lang="en-US" dirty="0"/>
              <a:t> Server </a:t>
            </a:r>
            <a:r>
              <a:rPr lang="en-US" dirty="0" err="1"/>
              <a:t>čvorovi</a:t>
            </a:r>
            <a:r>
              <a:rPr lang="en-US" dirty="0"/>
              <a:t> </a:t>
            </a:r>
            <a:r>
              <a:rPr lang="en-US" dirty="0" err="1"/>
              <a:t>organizovani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šarda</a:t>
            </a:r>
            <a:r>
              <a:rPr lang="en-US" dirty="0"/>
              <a:t>. Prvi </a:t>
            </a:r>
            <a:r>
              <a:rPr lang="en-US" i="1" dirty="0"/>
              <a:t>shard </a:t>
            </a:r>
            <a:r>
              <a:rPr lang="en-US" dirty="0" err="1"/>
              <a:t>čine</a:t>
            </a:r>
            <a:r>
              <a:rPr lang="en-US" dirty="0"/>
              <a:t> </a:t>
            </a:r>
            <a:r>
              <a:rPr lang="en-US" dirty="0" err="1"/>
              <a:t>čvorovi</a:t>
            </a:r>
            <a:r>
              <a:rPr lang="en-US" dirty="0"/>
              <a:t> </a:t>
            </a:r>
            <a:r>
              <a:rPr lang="en-US" i="1" dirty="0"/>
              <a:t>clickhouse-01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/>
              <a:t>clickhouse-02</a:t>
            </a:r>
            <a:r>
              <a:rPr lang="en-US" dirty="0"/>
              <a:t>, koji </a:t>
            </a:r>
            <a:r>
              <a:rPr lang="en-US" dirty="0" err="1"/>
              <a:t>međusobno</a:t>
            </a:r>
            <a:r>
              <a:rPr lang="en-US" dirty="0"/>
              <a:t> </a:t>
            </a:r>
            <a:r>
              <a:rPr lang="en-US" dirty="0" err="1"/>
              <a:t>repliciraju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. Drugi </a:t>
            </a:r>
            <a:r>
              <a:rPr lang="en-US" i="1" dirty="0"/>
              <a:t>shard </a:t>
            </a:r>
            <a:r>
              <a:rPr lang="en-US" dirty="0" err="1"/>
              <a:t>čini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i="1" dirty="0"/>
              <a:t>clickhouse-03</a:t>
            </a:r>
            <a:r>
              <a:rPr lang="en-US" dirty="0"/>
              <a:t>.</a:t>
            </a:r>
            <a:endParaRPr lang="sr-Latn-RS" dirty="0"/>
          </a:p>
          <a:p>
            <a:pPr algn="just"/>
            <a:r>
              <a:rPr lang="en-US" dirty="0"/>
              <a:t>Tri Keeper </a:t>
            </a:r>
            <a:r>
              <a:rPr lang="en-US" dirty="0" err="1"/>
              <a:t>čvora</a:t>
            </a:r>
            <a:r>
              <a:rPr lang="en-US" dirty="0"/>
              <a:t> (</a:t>
            </a:r>
            <a:r>
              <a:rPr lang="en-US" i="1" dirty="0"/>
              <a:t>keeper-01, keeper-02, keeper-03</a:t>
            </a:r>
            <a:r>
              <a:rPr lang="en-US" dirty="0"/>
              <a:t>) </a:t>
            </a:r>
            <a:r>
              <a:rPr lang="en-US" dirty="0" err="1"/>
              <a:t>formiraju</a:t>
            </a:r>
            <a:r>
              <a:rPr lang="en-US" dirty="0"/>
              <a:t> Raft </a:t>
            </a:r>
            <a:r>
              <a:rPr lang="en-US" dirty="0" err="1"/>
              <a:t>klaster</a:t>
            </a:r>
            <a:r>
              <a:rPr lang="sr-Latn-R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11406-6306-74FF-46E6-8388ECE8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CCF2-493F-58CC-5739-4A5378EF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replikacija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9C4A-CF33-86CB-E59B-B16644E0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70" y="514982"/>
            <a:ext cx="11029615" cy="3678303"/>
          </a:xfrm>
        </p:spPr>
        <p:txBody>
          <a:bodyPr/>
          <a:lstStyle/>
          <a:p>
            <a:pPr algn="just"/>
            <a:r>
              <a:rPr lang="sr-Latn-RS" dirty="0"/>
              <a:t>Cilj - </a:t>
            </a:r>
            <a:r>
              <a:rPr lang="en-US" dirty="0" err="1"/>
              <a:t>demonstracija</a:t>
            </a:r>
            <a:r>
              <a:rPr lang="en-US" dirty="0"/>
              <a:t> </a:t>
            </a:r>
            <a:r>
              <a:rPr lang="en-US" dirty="0" err="1"/>
              <a:t>fundamentalnog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sr-Latn-RS" dirty="0"/>
              <a:t>.</a:t>
            </a:r>
          </a:p>
          <a:p>
            <a:pPr algn="just"/>
            <a:r>
              <a:rPr lang="sr-Latn-RS" dirty="0"/>
              <a:t>K</a:t>
            </a:r>
            <a:r>
              <a:rPr lang="en-US" dirty="0" err="1"/>
              <a:t>reiran</a:t>
            </a:r>
            <a:r>
              <a:rPr lang="sr-Latn-RS" dirty="0"/>
              <a:t>e su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sr-Latn-RS" dirty="0"/>
              <a:t>e</a:t>
            </a:r>
            <a:r>
              <a:rPr lang="en-US" dirty="0"/>
              <a:t> </a:t>
            </a:r>
            <a:r>
              <a:rPr lang="en-US" i="1" dirty="0" err="1"/>
              <a:t>events_local</a:t>
            </a:r>
            <a:r>
              <a:rPr lang="en-US" i="1" dirty="0"/>
              <a:t> </a:t>
            </a:r>
            <a:r>
              <a:rPr lang="en-US" dirty="0" err="1"/>
              <a:t>i</a:t>
            </a:r>
            <a:r>
              <a:rPr lang="en-US" i="1" dirty="0"/>
              <a:t> events</a:t>
            </a:r>
            <a:r>
              <a:rPr lang="sr-Latn-RS" i="1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E9576-8188-588F-B3F9-FCE26B509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174" y="2895720"/>
            <a:ext cx="6186405" cy="353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11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E869-0A1C-871C-B055-A83C0C35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66F5-38CC-1CD3-F903-4436A8A0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replikacija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F381D-C732-5403-F54B-A1F5F1624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70" y="359861"/>
            <a:ext cx="11029615" cy="3678303"/>
          </a:xfrm>
        </p:spPr>
        <p:txBody>
          <a:bodyPr/>
          <a:lstStyle/>
          <a:p>
            <a:r>
              <a:rPr lang="en-US" dirty="0" err="1"/>
              <a:t>Provereno</a:t>
            </a:r>
            <a:r>
              <a:rPr lang="en-US" dirty="0"/>
              <a:t> je </a:t>
            </a:r>
            <a:r>
              <a:rPr lang="en-US" dirty="0" err="1"/>
              <a:t>inicijalno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i="1" dirty="0" err="1"/>
              <a:t>system.replicas</a:t>
            </a:r>
            <a:r>
              <a:rPr lang="en-US" dirty="0"/>
              <a:t> </a:t>
            </a:r>
            <a:r>
              <a:rPr lang="en-US" dirty="0" err="1"/>
              <a:t>sistemsku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F4EDE-EA94-97D7-B95B-99886F51D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686" y="2553176"/>
            <a:ext cx="7746379" cy="93319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B84B37-745D-000C-56E4-8B5712E3B286}"/>
              </a:ext>
            </a:extLst>
          </p:cNvPr>
          <p:cNvSpPr txBox="1">
            <a:spLocks/>
          </p:cNvSpPr>
          <p:nvPr/>
        </p:nvSpPr>
        <p:spPr>
          <a:xfrm>
            <a:off x="426067" y="2128547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dirty="0"/>
              <a:t>O</a:t>
            </a:r>
            <a:r>
              <a:rPr lang="en-US" dirty="0"/>
              <a:t>be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i="1" dirty="0"/>
              <a:t>shard-a</a:t>
            </a:r>
            <a:r>
              <a:rPr lang="en-US" dirty="0"/>
              <a:t> (</a:t>
            </a:r>
            <a:r>
              <a:rPr lang="en-US" i="1" dirty="0"/>
              <a:t>clickhouse-01 </a:t>
            </a:r>
            <a:r>
              <a:rPr lang="en-US" i="1" dirty="0" err="1"/>
              <a:t>i</a:t>
            </a:r>
            <a:r>
              <a:rPr lang="en-US" i="1" dirty="0"/>
              <a:t> clickhouse-02</a:t>
            </a:r>
            <a:r>
              <a:rPr lang="en-US" dirty="0"/>
              <a:t>)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aktivne</a:t>
            </a:r>
            <a:r>
              <a:rPr lang="en-US" dirty="0"/>
              <a:t>, bez </a:t>
            </a:r>
            <a:r>
              <a:rPr lang="en-US" dirty="0" err="1"/>
              <a:t>zaostajanja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bez </a:t>
            </a:r>
            <a:r>
              <a:rPr lang="en-US" dirty="0" err="1"/>
              <a:t>operacija</a:t>
            </a:r>
            <a:r>
              <a:rPr lang="en-US" dirty="0"/>
              <a:t> u </a:t>
            </a:r>
            <a:r>
              <a:rPr lang="en-US" dirty="0" err="1"/>
              <a:t>redu</a:t>
            </a:r>
            <a:r>
              <a:rPr lang="en-US" dirty="0"/>
              <a:t> </a:t>
            </a:r>
            <a:r>
              <a:rPr lang="en-US" dirty="0" err="1"/>
              <a:t>čekanja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Tri </a:t>
            </a:r>
            <a:r>
              <a:rPr lang="en-US" dirty="0" err="1"/>
              <a:t>reda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upisana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u </a:t>
            </a:r>
            <a:r>
              <a:rPr lang="en-US" dirty="0" err="1"/>
              <a:t>lokalnu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i="1" dirty="0"/>
              <a:t>clickhouse-01</a:t>
            </a:r>
            <a:r>
              <a:rPr lang="sr-Latn-RS" i="1" dirty="0"/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05E19D-D1ED-2FC3-DD79-E7A3951B7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450" y="4450755"/>
            <a:ext cx="5453099" cy="115389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6F1C10-DD34-50E6-394F-74529C3B23CF}"/>
              </a:ext>
            </a:extLst>
          </p:cNvPr>
          <p:cNvSpPr txBox="1">
            <a:spLocks/>
          </p:cNvSpPr>
          <p:nvPr/>
        </p:nvSpPr>
        <p:spPr>
          <a:xfrm>
            <a:off x="426067" y="4380289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Neposredno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en-US" dirty="0"/>
              <a:t>,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pronađeni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čvoru</a:t>
            </a:r>
            <a:r>
              <a:rPr lang="en-US" dirty="0"/>
              <a:t> </a:t>
            </a:r>
            <a:r>
              <a:rPr lang="en-US" i="1" dirty="0"/>
              <a:t>clickhouse-02</a:t>
            </a:r>
            <a:r>
              <a:rPr lang="en-US" dirty="0"/>
              <a:t> bez </a:t>
            </a:r>
            <a:r>
              <a:rPr lang="en-US" dirty="0" err="1"/>
              <a:t>ikakve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akcije</a:t>
            </a:r>
            <a:r>
              <a:rPr lang="en-US" dirty="0"/>
              <a:t>.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i="1" dirty="0"/>
              <a:t>clickhouse-03</a:t>
            </a:r>
            <a:r>
              <a:rPr lang="en-US" dirty="0"/>
              <a:t>, koji </a:t>
            </a:r>
            <a:r>
              <a:rPr lang="en-US" dirty="0" err="1"/>
              <a:t>pripada</a:t>
            </a:r>
            <a:r>
              <a:rPr lang="en-US" dirty="0"/>
              <a:t> </a:t>
            </a:r>
            <a:r>
              <a:rPr lang="en-US" dirty="0" err="1"/>
              <a:t>drugom</a:t>
            </a:r>
            <a:r>
              <a:rPr lang="en-US" dirty="0"/>
              <a:t> </a:t>
            </a:r>
            <a:r>
              <a:rPr lang="en-US" i="1" dirty="0"/>
              <a:t>shard-u</a:t>
            </a:r>
            <a:r>
              <a:rPr lang="en-US" dirty="0"/>
              <a:t>, ne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očekivano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ispravno</a:t>
            </a:r>
            <a:r>
              <a:rPr lang="en-US" dirty="0"/>
              <a:t> </a:t>
            </a:r>
            <a:r>
              <a:rPr lang="en-US" dirty="0" err="1"/>
              <a:t>ponašanje</a:t>
            </a:r>
            <a:r>
              <a:rPr lang="en-US" dirty="0"/>
              <a:t>.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i="1" dirty="0"/>
              <a:t>shard-a</a:t>
            </a:r>
            <a:r>
              <a:rPr lang="en-US" dirty="0"/>
              <a:t>, ne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i="1" dirty="0"/>
              <a:t>shard-ova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882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2209-8F8D-CDDF-976C-B5D40752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B91C-3FA3-B6B4-4775-21F5D1A3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replikacija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3A44F-A8E0-EE33-376D-935B4511C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70" y="359861"/>
            <a:ext cx="11029615" cy="3678303"/>
          </a:xfrm>
        </p:spPr>
        <p:txBody>
          <a:bodyPr/>
          <a:lstStyle/>
          <a:p>
            <a:r>
              <a:rPr lang="en-US" dirty="0" err="1"/>
              <a:t>Upisan</a:t>
            </a:r>
            <a:r>
              <a:rPr lang="en-US" dirty="0"/>
              <a:t> je </a:t>
            </a:r>
            <a:r>
              <a:rPr lang="en-US" dirty="0" err="1"/>
              <a:t>jedan</a:t>
            </a:r>
            <a:r>
              <a:rPr lang="en-US" dirty="0"/>
              <a:t> red </a:t>
            </a:r>
            <a:r>
              <a:rPr lang="en-US" dirty="0" err="1"/>
              <a:t>direktno</a:t>
            </a:r>
            <a:r>
              <a:rPr lang="en-US" dirty="0"/>
              <a:t> u </a:t>
            </a:r>
            <a:r>
              <a:rPr lang="en-US" dirty="0" err="1"/>
              <a:t>lokalnu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i="1" dirty="0"/>
              <a:t>clickhouse-03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E8045C-6723-A9EF-0621-E5060340DA1A}"/>
              </a:ext>
            </a:extLst>
          </p:cNvPr>
          <p:cNvSpPr txBox="1">
            <a:spLocks/>
          </p:cNvSpPr>
          <p:nvPr/>
        </p:nvSpPr>
        <p:spPr>
          <a:xfrm>
            <a:off x="426067" y="1209056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SELECT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pokrenut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i="1" dirty="0"/>
              <a:t>events </a:t>
            </a:r>
            <a:r>
              <a:rPr lang="en-US" dirty="0"/>
              <a:t>Distributed </a:t>
            </a:r>
            <a:r>
              <a:rPr lang="en-US" dirty="0" err="1"/>
              <a:t>tabeli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kom</a:t>
            </a:r>
            <a:r>
              <a:rPr lang="en-US" dirty="0"/>
              <a:t> </a:t>
            </a:r>
            <a:r>
              <a:rPr lang="en-US" dirty="0" err="1"/>
              <a:t>čvoru</a:t>
            </a:r>
            <a:r>
              <a:rPr lang="en-US" dirty="0"/>
              <a:t> </a:t>
            </a:r>
            <a:r>
              <a:rPr lang="en-US" dirty="0" err="1"/>
              <a:t>agregira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oba </a:t>
            </a:r>
            <a:r>
              <a:rPr lang="en-US" i="1" dirty="0"/>
              <a:t>shard-a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vraća</a:t>
            </a:r>
            <a:r>
              <a:rPr lang="en-US" dirty="0"/>
              <a:t> </a:t>
            </a:r>
            <a:r>
              <a:rPr lang="en-US" dirty="0" err="1"/>
              <a:t>kompletan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  <a:endParaRPr lang="sr-Latn-R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4DA7D-FA72-F7E2-698A-A06DE5BB4BD9}"/>
              </a:ext>
            </a:extLst>
          </p:cNvPr>
          <p:cNvSpPr txBox="1">
            <a:spLocks/>
          </p:cNvSpPr>
          <p:nvPr/>
        </p:nvSpPr>
        <p:spPr>
          <a:xfrm>
            <a:off x="426067" y="4380289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Scenario </a:t>
            </a:r>
            <a:r>
              <a:rPr lang="en-US" dirty="0" err="1"/>
              <a:t>potvrđuje</a:t>
            </a:r>
            <a:r>
              <a:rPr lang="en-US" dirty="0"/>
              <a:t> da </a:t>
            </a:r>
            <a:r>
              <a:rPr lang="en-US" dirty="0" err="1"/>
              <a:t>ReplicatedMergeTree</a:t>
            </a:r>
            <a:r>
              <a:rPr lang="en-US" dirty="0"/>
              <a:t> engine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koordiniše</a:t>
            </a:r>
            <a:r>
              <a:rPr lang="en-US" dirty="0"/>
              <a:t> </a:t>
            </a:r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Keeper log,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eksplicitnom</a:t>
            </a:r>
            <a:r>
              <a:rPr lang="en-US" dirty="0"/>
              <a:t> </a:t>
            </a:r>
            <a:r>
              <a:rPr lang="en-US" dirty="0" err="1"/>
              <a:t>konfiguracijom</a:t>
            </a:r>
            <a:r>
              <a:rPr lang="en-US" dirty="0"/>
              <a:t> </a:t>
            </a:r>
            <a:r>
              <a:rPr lang="en-US" dirty="0" err="1"/>
              <a:t>replikacije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nivou</a:t>
            </a:r>
            <a:r>
              <a:rPr lang="en-US" dirty="0"/>
              <a:t> </a:t>
            </a:r>
            <a:r>
              <a:rPr lang="en-US" dirty="0" err="1"/>
              <a:t>pojedinih</a:t>
            </a:r>
            <a:r>
              <a:rPr lang="en-US" dirty="0"/>
              <a:t> </a:t>
            </a:r>
            <a:r>
              <a:rPr lang="en-US" dirty="0" err="1"/>
              <a:t>operacija</a:t>
            </a:r>
            <a:r>
              <a:rPr lang="en-US" dirty="0"/>
              <a:t>. </a:t>
            </a: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piše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repliku</a:t>
            </a:r>
            <a:r>
              <a:rPr lang="en-US" dirty="0"/>
              <a:t>, 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garantuje</a:t>
            </a:r>
            <a:r>
              <a:rPr lang="en-US" dirty="0"/>
              <a:t> </a:t>
            </a:r>
            <a:r>
              <a:rPr lang="en-US" dirty="0" err="1"/>
              <a:t>konzistentnost</a:t>
            </a:r>
            <a:r>
              <a:rPr lang="en-US" dirty="0"/>
              <a:t> </a:t>
            </a:r>
            <a:r>
              <a:rPr lang="en-US" dirty="0" err="1"/>
              <a:t>ostalih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B9293-5791-6371-48B6-201CDD69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510" y="1974895"/>
            <a:ext cx="4503298" cy="601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BCB71B-5F6F-9DEC-297D-4D5F478E5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612" y="3429000"/>
            <a:ext cx="5066124" cy="20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5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287B-832D-0F30-0ED5-56382D73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BE8D-BC07-6B89-39E3-783373E8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/>
              <a:t>Pad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resinhronizacija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BEF2-14CE-D69B-68AA-BDE9F90E9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56" y="1845856"/>
            <a:ext cx="11029615" cy="1910443"/>
          </a:xfrm>
        </p:spPr>
        <p:txBody>
          <a:bodyPr>
            <a:normAutofit/>
          </a:bodyPr>
          <a:lstStyle/>
          <a:p>
            <a:pPr algn="just"/>
            <a:r>
              <a:rPr lang="sr-Latn-RS" dirty="0"/>
              <a:t>Cilj - posmatranje</a:t>
            </a:r>
            <a:r>
              <a:rPr lang="en-US" dirty="0"/>
              <a:t> </a:t>
            </a:r>
            <a:r>
              <a:rPr lang="en-US" dirty="0" err="1"/>
              <a:t>ponašanj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postane</a:t>
            </a:r>
            <a:r>
              <a:rPr lang="en-US" dirty="0"/>
              <a:t> </a:t>
            </a:r>
            <a:r>
              <a:rPr lang="en-US" dirty="0" err="1"/>
              <a:t>privremeno</a:t>
            </a:r>
            <a:r>
              <a:rPr lang="en-US" dirty="0"/>
              <a:t> </a:t>
            </a:r>
            <a:r>
              <a:rPr lang="en-US" dirty="0" err="1"/>
              <a:t>nedostupna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demonstr</a:t>
            </a:r>
            <a:r>
              <a:rPr lang="sr-Latn-RS" dirty="0" err="1"/>
              <a:t>acija</a:t>
            </a:r>
            <a:r>
              <a:rPr lang="en-US" dirty="0"/>
              <a:t> </a:t>
            </a:r>
            <a:r>
              <a:rPr lang="en-US" dirty="0" err="1"/>
              <a:t>mehanizm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en-US" dirty="0" err="1"/>
              <a:t>automatske</a:t>
            </a:r>
            <a:r>
              <a:rPr lang="en-US" dirty="0"/>
              <a:t> </a:t>
            </a:r>
            <a:r>
              <a:rPr lang="en-US" dirty="0" err="1"/>
              <a:t>resinhronizacije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se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vrati</a:t>
            </a:r>
            <a:r>
              <a:rPr lang="en-US" dirty="0"/>
              <a:t> u </a:t>
            </a:r>
            <a:r>
              <a:rPr lang="en-US" dirty="0" err="1"/>
              <a:t>operativno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sr-Latn-RS" dirty="0"/>
              <a:t>.</a:t>
            </a:r>
            <a:endParaRPr lang="en-US" dirty="0"/>
          </a:p>
          <a:p>
            <a:pPr algn="just"/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i="1" dirty="0"/>
              <a:t>clickhouse-02</a:t>
            </a:r>
            <a:r>
              <a:rPr lang="en-US" dirty="0"/>
              <a:t> je </a:t>
            </a:r>
            <a:r>
              <a:rPr lang="en-US" dirty="0" err="1"/>
              <a:t>zaustavljen</a:t>
            </a:r>
            <a:r>
              <a:rPr lang="en-US" dirty="0"/>
              <a:t> </a:t>
            </a:r>
            <a:r>
              <a:rPr lang="en-US" dirty="0" err="1"/>
              <a:t>simulirajući</a:t>
            </a:r>
            <a:r>
              <a:rPr lang="en-US" dirty="0"/>
              <a:t> </a:t>
            </a:r>
            <a:r>
              <a:rPr lang="en-US" dirty="0" err="1"/>
              <a:t>otkaz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. </a:t>
            </a:r>
            <a:r>
              <a:rPr lang="sr-Latn-RS" dirty="0"/>
              <a:t>N</a:t>
            </a:r>
            <a:r>
              <a:rPr lang="en-US" dirty="0"/>
              <a:t>a </a:t>
            </a:r>
            <a:r>
              <a:rPr lang="en-US" dirty="0" err="1"/>
              <a:t>čvoru</a:t>
            </a:r>
            <a:r>
              <a:rPr lang="en-US" dirty="0"/>
              <a:t> </a:t>
            </a:r>
            <a:r>
              <a:rPr lang="en-US" i="1" dirty="0"/>
              <a:t>clickhouse-01</a:t>
            </a:r>
            <a:r>
              <a:rPr lang="en-US" dirty="0"/>
              <a:t>, </a:t>
            </a:r>
            <a:r>
              <a:rPr lang="en-US" dirty="0" err="1"/>
              <a:t>upisano</a:t>
            </a:r>
            <a:r>
              <a:rPr lang="en-US" dirty="0"/>
              <a:t> je </a:t>
            </a:r>
            <a:r>
              <a:rPr lang="en-US" dirty="0" err="1"/>
              <a:t>ukupno</a:t>
            </a:r>
            <a:r>
              <a:rPr lang="en-US" dirty="0"/>
              <a:t> 10000 </a:t>
            </a:r>
            <a:r>
              <a:rPr lang="en-US" dirty="0" err="1"/>
              <a:t>redova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batch INSERT, </a:t>
            </a:r>
            <a:r>
              <a:rPr lang="en-US" dirty="0" err="1"/>
              <a:t>dok</a:t>
            </a:r>
            <a:r>
              <a:rPr lang="en-US" dirty="0"/>
              <a:t> je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nedostupna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E53DF-AD7E-0729-0399-EEBAF6C4D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278" y="3637553"/>
            <a:ext cx="4918623" cy="151969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386733-3953-67C9-66E7-721E7BA1C69F}"/>
              </a:ext>
            </a:extLst>
          </p:cNvPr>
          <p:cNvSpPr txBox="1">
            <a:spLocks/>
          </p:cNvSpPr>
          <p:nvPr/>
        </p:nvSpPr>
        <p:spPr>
          <a:xfrm>
            <a:off x="475056" y="5038500"/>
            <a:ext cx="11029615" cy="1910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ponovnog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i="1" dirty="0"/>
              <a:t>clickhouse-02</a:t>
            </a:r>
            <a:r>
              <a:rPr lang="sr-Latn-RS" i="1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sr-Latn-RS" dirty="0"/>
              <a:t>redova </a:t>
            </a:r>
            <a:r>
              <a:rPr lang="en-US" dirty="0"/>
              <a:t>bio </a:t>
            </a:r>
            <a:r>
              <a:rPr lang="en-US" dirty="0" err="1"/>
              <a:t>identičan</a:t>
            </a:r>
            <a:r>
              <a:rPr lang="en-US" dirty="0"/>
              <a:t> </a:t>
            </a:r>
            <a:r>
              <a:rPr lang="en-US" dirty="0" err="1"/>
              <a:t>broju</a:t>
            </a:r>
            <a:r>
              <a:rPr lang="en-US" dirty="0"/>
              <a:t> </a:t>
            </a:r>
            <a:r>
              <a:rPr lang="en-US" dirty="0" err="1"/>
              <a:t>redova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i="1" dirty="0"/>
              <a:t>clickhouse-01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Scenario </a:t>
            </a:r>
            <a:r>
              <a:rPr lang="en-US" dirty="0" err="1"/>
              <a:t>demonstrira</a:t>
            </a:r>
            <a:r>
              <a:rPr lang="en-US" dirty="0"/>
              <a:t> da </a:t>
            </a:r>
            <a:r>
              <a:rPr lang="en-US" dirty="0" err="1"/>
              <a:t>ClickHouse</a:t>
            </a:r>
            <a:r>
              <a:rPr lang="en-US" dirty="0"/>
              <a:t> ne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administratorsku</a:t>
            </a:r>
            <a:r>
              <a:rPr lang="en-US" dirty="0"/>
              <a:t> </a:t>
            </a:r>
            <a:r>
              <a:rPr lang="en-US" dirty="0" err="1"/>
              <a:t>intervenciju</a:t>
            </a:r>
            <a:r>
              <a:rPr lang="en-US" dirty="0"/>
              <a:t> za </a:t>
            </a:r>
            <a:r>
              <a:rPr lang="en-US" dirty="0" err="1"/>
              <a:t>oporavak</a:t>
            </a:r>
            <a:r>
              <a:rPr lang="en-US" dirty="0"/>
              <a:t>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privremenog</a:t>
            </a:r>
            <a:r>
              <a:rPr lang="en-US" dirty="0"/>
              <a:t> </a:t>
            </a:r>
            <a:r>
              <a:rPr lang="en-US" dirty="0" err="1"/>
              <a:t>otkaza</a:t>
            </a:r>
            <a:r>
              <a:rPr lang="en-US" dirty="0"/>
              <a:t>. </a:t>
            </a:r>
            <a:r>
              <a:rPr lang="en-US" dirty="0" err="1"/>
              <a:t>Resinhronizacija</a:t>
            </a:r>
            <a:r>
              <a:rPr lang="en-US" dirty="0"/>
              <a:t> je </a:t>
            </a:r>
            <a:r>
              <a:rPr lang="en-US" dirty="0" err="1"/>
              <a:t>automatska</a:t>
            </a:r>
            <a:r>
              <a:rPr lang="en-US" dirty="0"/>
              <a:t>, </a:t>
            </a:r>
            <a:r>
              <a:rPr lang="en-US" dirty="0" err="1"/>
              <a:t>merljiva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sistemske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završava</a:t>
            </a:r>
            <a:r>
              <a:rPr lang="en-US" dirty="0"/>
              <a:t> se u </a:t>
            </a:r>
            <a:r>
              <a:rPr lang="en-US" dirty="0" err="1"/>
              <a:t>vremenu</a:t>
            </a:r>
            <a:r>
              <a:rPr lang="en-US" dirty="0"/>
              <a:t> </a:t>
            </a:r>
            <a:r>
              <a:rPr lang="en-US" dirty="0" err="1"/>
              <a:t>proporcionalnom</a:t>
            </a:r>
            <a:r>
              <a:rPr lang="en-US" dirty="0"/>
              <a:t> </a:t>
            </a:r>
            <a:r>
              <a:rPr lang="en-US" dirty="0" err="1"/>
              <a:t>količini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propušteni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6506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1D2C-09C7-6751-75EC-A81777FF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6DFF-9091-A6D2-FABE-F8BA0BFD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/>
              <a:t>Quorum inserts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4E53-1113-00F1-3664-8FDF005CF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55" y="2473778"/>
            <a:ext cx="11029615" cy="1910443"/>
          </a:xfrm>
        </p:spPr>
        <p:txBody>
          <a:bodyPr>
            <a:noAutofit/>
          </a:bodyPr>
          <a:lstStyle/>
          <a:p>
            <a:pPr algn="just"/>
            <a:r>
              <a:rPr lang="sr-Latn-RS" dirty="0"/>
              <a:t>Cilj - posmatranje</a:t>
            </a:r>
            <a:r>
              <a:rPr lang="en-US" dirty="0"/>
              <a:t> trade-off</a:t>
            </a:r>
            <a:r>
              <a:rPr lang="sr-Latn-RS" dirty="0"/>
              <a:t>-a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latencije</a:t>
            </a:r>
            <a:r>
              <a:rPr lang="en-US" dirty="0"/>
              <a:t>, </a:t>
            </a:r>
            <a:r>
              <a:rPr lang="en-US" dirty="0" err="1"/>
              <a:t>merenjem</a:t>
            </a:r>
            <a:r>
              <a:rPr lang="en-US" dirty="0"/>
              <a:t> </a:t>
            </a:r>
            <a:r>
              <a:rPr lang="en-US" dirty="0" err="1"/>
              <a:t>stvarne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 u </a:t>
            </a:r>
            <a:r>
              <a:rPr lang="en-US" dirty="0" err="1"/>
              <a:t>vremenu</a:t>
            </a:r>
            <a:r>
              <a:rPr lang="en-US" dirty="0"/>
              <a:t> </a:t>
            </a:r>
            <a:r>
              <a:rPr lang="en-US" dirty="0" err="1"/>
              <a:t>izvršavanja</a:t>
            </a:r>
            <a:r>
              <a:rPr lang="en-US" dirty="0"/>
              <a:t> INSERT </a:t>
            </a:r>
            <a:r>
              <a:rPr lang="en-US" dirty="0" err="1"/>
              <a:t>operacija</a:t>
            </a:r>
            <a:r>
              <a:rPr lang="en-US" dirty="0"/>
              <a:t> u </a:t>
            </a:r>
            <a:r>
              <a:rPr lang="en-US" dirty="0" err="1"/>
              <a:t>asinhronom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quorum </a:t>
            </a:r>
            <a:r>
              <a:rPr lang="en-US" dirty="0" err="1"/>
              <a:t>modu</a:t>
            </a:r>
            <a:r>
              <a:rPr lang="sr-Latn-RS" dirty="0"/>
              <a:t>.</a:t>
            </a:r>
          </a:p>
          <a:p>
            <a:pPr algn="just"/>
            <a:r>
              <a:rPr lang="en-US" dirty="0"/>
              <a:t>U </a:t>
            </a:r>
            <a:r>
              <a:rPr lang="en-US" dirty="0" err="1"/>
              <a:t>prvoj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, INSERT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izvršavane</a:t>
            </a:r>
            <a:r>
              <a:rPr lang="en-US" dirty="0"/>
              <a:t> u </a:t>
            </a:r>
            <a:r>
              <a:rPr lang="en-US" dirty="0" err="1"/>
              <a:t>podrazumevanom</a:t>
            </a:r>
            <a:r>
              <a:rPr lang="en-US" dirty="0"/>
              <a:t> </a:t>
            </a:r>
            <a:r>
              <a:rPr lang="en-US" dirty="0" err="1"/>
              <a:t>asinhronom</a:t>
            </a:r>
            <a:r>
              <a:rPr lang="en-US" dirty="0"/>
              <a:t> </a:t>
            </a:r>
            <a:r>
              <a:rPr lang="en-US" dirty="0" err="1"/>
              <a:t>modu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je </a:t>
            </a:r>
            <a:r>
              <a:rPr lang="en-US" dirty="0" err="1"/>
              <a:t>potvrđivao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u </a:t>
            </a:r>
            <a:r>
              <a:rPr lang="en-US" dirty="0" err="1"/>
              <a:t>trenutku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ga je </a:t>
            </a:r>
            <a:r>
              <a:rPr lang="en-US" dirty="0" err="1"/>
              <a:t>prihvatila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, bez </a:t>
            </a:r>
            <a:r>
              <a:rPr lang="en-US" dirty="0" err="1"/>
              <a:t>čekanja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potvrdu</a:t>
            </a:r>
            <a:r>
              <a:rPr lang="en-US" dirty="0"/>
              <a:t> od </a:t>
            </a:r>
            <a:r>
              <a:rPr lang="en-US" i="1" dirty="0"/>
              <a:t>clickhouse-02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/>
              <a:t>U </a:t>
            </a:r>
            <a:r>
              <a:rPr lang="en-US" dirty="0" err="1"/>
              <a:t>drugoj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, </a:t>
            </a:r>
            <a:r>
              <a:rPr lang="en-US" dirty="0" err="1"/>
              <a:t>aktivirana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podešavanja</a:t>
            </a:r>
            <a:r>
              <a:rPr lang="en-US" dirty="0"/>
              <a:t> </a:t>
            </a:r>
            <a:r>
              <a:rPr lang="en-US" dirty="0" err="1"/>
              <a:t>koj</a:t>
            </a:r>
            <a:r>
              <a:rPr lang="sr-Latn-RS" dirty="0"/>
              <a:t>ima se</a:t>
            </a:r>
            <a:r>
              <a:rPr lang="en-US" dirty="0"/>
              <a:t>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potvrd</a:t>
            </a:r>
            <a:r>
              <a:rPr lang="sr-Latn-RS" dirty="0"/>
              <a:t>a</a:t>
            </a:r>
            <a:r>
              <a:rPr lang="en-US" dirty="0"/>
              <a:t> od </a:t>
            </a:r>
            <a:r>
              <a:rPr lang="en-US" dirty="0" err="1"/>
              <a:t>obe</a:t>
            </a:r>
            <a:r>
              <a:rPr lang="en-US" dirty="0"/>
              <a:t> </a:t>
            </a:r>
            <a:r>
              <a:rPr lang="en-US" dirty="0" err="1"/>
              <a:t>replike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i="1" dirty="0"/>
              <a:t>shard-a </a:t>
            </a:r>
            <a:r>
              <a:rPr lang="en-US" dirty="0"/>
              <a:t>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se INSERT </a:t>
            </a:r>
            <a:r>
              <a:rPr lang="en-US" dirty="0" err="1"/>
              <a:t>smatra</a:t>
            </a:r>
            <a:r>
              <a:rPr lang="en-US" dirty="0"/>
              <a:t> </a:t>
            </a:r>
            <a:r>
              <a:rPr lang="en-US" dirty="0" err="1"/>
              <a:t>uspešnim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71623F-6839-1440-02E9-E6B7FEB2646C}"/>
              </a:ext>
            </a:extLst>
          </p:cNvPr>
          <p:cNvSpPr txBox="1">
            <a:spLocks/>
          </p:cNvSpPr>
          <p:nvPr/>
        </p:nvSpPr>
        <p:spPr>
          <a:xfrm>
            <a:off x="475054" y="4787007"/>
            <a:ext cx="11029615" cy="1910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Merenja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pokazala</a:t>
            </a:r>
            <a:r>
              <a:rPr lang="en-US" dirty="0"/>
              <a:t> </a:t>
            </a:r>
            <a:r>
              <a:rPr lang="en-US" dirty="0" err="1"/>
              <a:t>povećanje</a:t>
            </a:r>
            <a:r>
              <a:rPr lang="en-US" dirty="0"/>
              <a:t> </a:t>
            </a:r>
            <a:r>
              <a:rPr lang="en-US" dirty="0" err="1"/>
              <a:t>latencije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odražava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da se </a:t>
            </a:r>
            <a:r>
              <a:rPr lang="en-US" i="1" dirty="0"/>
              <a:t>data part</a:t>
            </a:r>
            <a:r>
              <a:rPr lang="en-US" dirty="0"/>
              <a:t> </a:t>
            </a:r>
            <a:r>
              <a:rPr lang="en-US" dirty="0" err="1"/>
              <a:t>prenese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potvrdi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drugoj</a:t>
            </a:r>
            <a:r>
              <a:rPr lang="en-US" dirty="0"/>
              <a:t> </a:t>
            </a:r>
            <a:r>
              <a:rPr lang="en-US" dirty="0" err="1"/>
              <a:t>replici</a:t>
            </a:r>
            <a:r>
              <a:rPr lang="sr-Latn-RS" dirty="0"/>
              <a:t>.</a:t>
            </a:r>
          </a:p>
          <a:p>
            <a:pPr algn="just"/>
            <a:r>
              <a:rPr lang="en-US" dirty="0"/>
              <a:t>U </a:t>
            </a:r>
            <a:r>
              <a:rPr lang="en-US" dirty="0" err="1"/>
              <a:t>trećoj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,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i="1" dirty="0"/>
              <a:t>clickhouse-02</a:t>
            </a:r>
            <a:r>
              <a:rPr lang="en-US" dirty="0"/>
              <a:t> je </a:t>
            </a:r>
            <a:r>
              <a:rPr lang="en-US" dirty="0" err="1"/>
              <a:t>zaustavljen</a:t>
            </a:r>
            <a:r>
              <a:rPr lang="en-US" dirty="0"/>
              <a:t>. </a:t>
            </a:r>
            <a:r>
              <a:rPr lang="en-US" dirty="0" err="1"/>
              <a:t>Pokušaj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en-US" dirty="0"/>
              <a:t> </a:t>
            </a:r>
            <a:r>
              <a:rPr lang="en-US" dirty="0" err="1"/>
              <a:t>rezultovao</a:t>
            </a:r>
            <a:r>
              <a:rPr lang="en-US" dirty="0"/>
              <a:t> je </a:t>
            </a:r>
            <a:r>
              <a:rPr lang="en-US" dirty="0" err="1"/>
              <a:t>eksplicitnom</a:t>
            </a:r>
            <a:r>
              <a:rPr lang="en-US" dirty="0"/>
              <a:t> </a:t>
            </a:r>
            <a:r>
              <a:rPr lang="en-US" dirty="0" err="1"/>
              <a:t>greškom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navodi</a:t>
            </a:r>
            <a:r>
              <a:rPr lang="en-US" dirty="0"/>
              <a:t> da </a:t>
            </a:r>
            <a:r>
              <a:rPr lang="en-US" dirty="0" err="1"/>
              <a:t>kvorum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dostižan</a:t>
            </a:r>
            <a:r>
              <a:rPr lang="en-US" dirty="0"/>
              <a:t> u </a:t>
            </a:r>
            <a:r>
              <a:rPr lang="en-US" dirty="0" err="1"/>
              <a:t>zadatom</a:t>
            </a:r>
            <a:r>
              <a:rPr lang="en-US" dirty="0"/>
              <a:t> </a:t>
            </a:r>
            <a:r>
              <a:rPr lang="en-US" dirty="0" err="1"/>
              <a:t>vremenskom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sr-Latn-RS" dirty="0"/>
              <a:t>.</a:t>
            </a:r>
          </a:p>
          <a:p>
            <a:pPr algn="just"/>
            <a:r>
              <a:rPr lang="en-US" dirty="0"/>
              <a:t>Scenario </a:t>
            </a:r>
            <a:r>
              <a:rPr lang="en-US" dirty="0" err="1"/>
              <a:t>potvrđuje</a:t>
            </a:r>
            <a:r>
              <a:rPr lang="en-US" dirty="0"/>
              <a:t> 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pruža</a:t>
            </a:r>
            <a:r>
              <a:rPr lang="en-US" dirty="0"/>
              <a:t>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garancije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po </a:t>
            </a:r>
            <a:r>
              <a:rPr lang="en-US" dirty="0" err="1"/>
              <a:t>ceni</a:t>
            </a:r>
            <a:r>
              <a:rPr lang="en-US" dirty="0"/>
              <a:t> </a:t>
            </a:r>
            <a:r>
              <a:rPr lang="en-US" dirty="0" err="1"/>
              <a:t>veće</a:t>
            </a:r>
            <a:r>
              <a:rPr lang="en-US" dirty="0"/>
              <a:t> </a:t>
            </a:r>
            <a:r>
              <a:rPr lang="en-US" dirty="0" err="1"/>
              <a:t>latencije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smanjene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otkazu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EE885-3669-90F0-73FF-B116CDC37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170" y="3899792"/>
            <a:ext cx="4607659" cy="80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3FC7-E577-CF47-33BC-15578676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B52E-A235-617C-248C-515774D9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upiti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sharding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B4CE-CBBA-F574-81ED-E4753386E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56" y="1845856"/>
            <a:ext cx="11029615" cy="1910443"/>
          </a:xfrm>
        </p:spPr>
        <p:txBody>
          <a:bodyPr>
            <a:normAutofit/>
          </a:bodyPr>
          <a:lstStyle/>
          <a:p>
            <a:pPr algn="just"/>
            <a:r>
              <a:rPr lang="sr-Latn-RS" dirty="0"/>
              <a:t>Cilj - </a:t>
            </a:r>
            <a:r>
              <a:rPr lang="en-US" dirty="0" err="1"/>
              <a:t>demonstrira</a:t>
            </a:r>
            <a:r>
              <a:rPr lang="en-US" dirty="0"/>
              <a:t> </a:t>
            </a:r>
            <a:r>
              <a:rPr lang="en-US" dirty="0" err="1"/>
              <a:t>ulogu</a:t>
            </a:r>
            <a:r>
              <a:rPr lang="en-US" dirty="0"/>
              <a:t> Distributed engine-a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sloja</a:t>
            </a:r>
            <a:r>
              <a:rPr lang="en-US" dirty="0"/>
              <a:t> za </a:t>
            </a:r>
            <a:r>
              <a:rPr lang="en-US" dirty="0" err="1"/>
              <a:t>apstrakciju</a:t>
            </a:r>
            <a:r>
              <a:rPr lang="en-US" dirty="0"/>
              <a:t> </a:t>
            </a:r>
            <a:r>
              <a:rPr lang="en-US" i="1" dirty="0"/>
              <a:t>sharding-a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i="1" dirty="0"/>
              <a:t>sharding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upita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Hiljadu</a:t>
            </a:r>
            <a:r>
              <a:rPr lang="en-US" dirty="0"/>
              <a:t> </a:t>
            </a:r>
            <a:r>
              <a:rPr lang="en-US" dirty="0" err="1"/>
              <a:t>redova</a:t>
            </a:r>
            <a:r>
              <a:rPr lang="en-US" dirty="0"/>
              <a:t> je </a:t>
            </a:r>
            <a:r>
              <a:rPr lang="en-US" dirty="0" err="1"/>
              <a:t>upisano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Distributed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korišćenjem</a:t>
            </a:r>
            <a:r>
              <a:rPr lang="en-US" dirty="0"/>
              <a:t> rand() </a:t>
            </a:r>
            <a:r>
              <a:rPr lang="en-US" i="1" dirty="0"/>
              <a:t>sharding</a:t>
            </a:r>
            <a:r>
              <a:rPr lang="en-US" dirty="0"/>
              <a:t> </a:t>
            </a:r>
            <a:r>
              <a:rPr lang="en-US" dirty="0" err="1"/>
              <a:t>ključa</a:t>
            </a:r>
            <a:r>
              <a:rPr lang="sr-Latn-RS" dirty="0"/>
              <a:t>, a n</a:t>
            </a:r>
            <a:r>
              <a:rPr lang="en-US" dirty="0" err="1"/>
              <a:t>akon</a:t>
            </a:r>
            <a:r>
              <a:rPr lang="en-US" dirty="0"/>
              <a:t> </a:t>
            </a:r>
            <a:r>
              <a:rPr lang="en-US" dirty="0" err="1"/>
              <a:t>upisa</a:t>
            </a:r>
            <a:r>
              <a:rPr lang="sr-Latn-RS" dirty="0"/>
              <a:t> </a:t>
            </a:r>
            <a:r>
              <a:rPr lang="en-US" dirty="0" err="1"/>
              <a:t>proverena</a:t>
            </a:r>
            <a:r>
              <a:rPr lang="en-US" dirty="0"/>
              <a:t> je </a:t>
            </a:r>
            <a:r>
              <a:rPr lang="en-US" dirty="0" err="1"/>
              <a:t>fizička</a:t>
            </a:r>
            <a:r>
              <a:rPr lang="en-US" dirty="0"/>
              <a:t> </a:t>
            </a:r>
            <a:r>
              <a:rPr lang="en-US" dirty="0" err="1"/>
              <a:t>distribucija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direktnim</a:t>
            </a:r>
            <a:r>
              <a:rPr lang="en-US" dirty="0"/>
              <a:t> </a:t>
            </a:r>
            <a:r>
              <a:rPr lang="en-US" dirty="0" err="1"/>
              <a:t>upitom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lokalnu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svakog</a:t>
            </a:r>
            <a:r>
              <a:rPr lang="en-US" dirty="0"/>
              <a:t> </a:t>
            </a:r>
            <a:r>
              <a:rPr lang="en-US" i="1" dirty="0"/>
              <a:t>shard-a</a:t>
            </a:r>
            <a:r>
              <a:rPr lang="en-US" dirty="0"/>
              <a:t>.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18FC3-9062-5A39-09E0-5A5E963D0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5" y="3886199"/>
            <a:ext cx="10493829" cy="15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41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6FA2-9AD7-3791-5E0A-4B113D9C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6E61-050D-2377-2628-30BACAC5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upiti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sharding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8ECA3-7EB5-BD68-2779-2E1BD30FD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56" y="1845856"/>
            <a:ext cx="11029615" cy="191044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Isti </a:t>
            </a:r>
            <a:r>
              <a:rPr lang="en-US" dirty="0" err="1"/>
              <a:t>agregacioni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koji </a:t>
            </a:r>
            <a:r>
              <a:rPr lang="en-US" dirty="0" err="1"/>
              <a:t>pronalazi</a:t>
            </a:r>
            <a:r>
              <a:rPr lang="en-US" dirty="0"/>
              <a:t> </a:t>
            </a:r>
            <a:r>
              <a:rPr lang="en-US" dirty="0" err="1"/>
              <a:t>minimalnu</a:t>
            </a:r>
            <a:r>
              <a:rPr lang="en-US" dirty="0"/>
              <a:t>, </a:t>
            </a:r>
            <a:r>
              <a:rPr lang="en-US" dirty="0" err="1"/>
              <a:t>maksimalnu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user_id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redova</a:t>
            </a:r>
            <a:r>
              <a:rPr lang="en-US" dirty="0"/>
              <a:t>, </a:t>
            </a:r>
            <a:r>
              <a:rPr lang="en-US" dirty="0" err="1"/>
              <a:t>pokrenut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tri </a:t>
            </a:r>
            <a:r>
              <a:rPr lang="en-US" dirty="0" err="1"/>
              <a:t>načina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Lokalni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i="1" dirty="0"/>
              <a:t>clickhouse-01</a:t>
            </a:r>
            <a:r>
              <a:rPr lang="en-US" dirty="0"/>
              <a:t> </a:t>
            </a:r>
            <a:r>
              <a:rPr lang="en-US" dirty="0" err="1"/>
              <a:t>vratio</a:t>
            </a:r>
            <a:r>
              <a:rPr lang="en-US" dirty="0"/>
              <a:t> je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i="1" dirty="0"/>
              <a:t>shard-a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maksimalnim</a:t>
            </a:r>
            <a:r>
              <a:rPr lang="en-US" dirty="0"/>
              <a:t> </a:t>
            </a:r>
            <a:r>
              <a:rPr lang="en-US" dirty="0" err="1"/>
              <a:t>user_id</a:t>
            </a:r>
            <a:r>
              <a:rPr lang="en-US" dirty="0"/>
              <a:t> </a:t>
            </a:r>
            <a:r>
              <a:rPr lang="en-US" dirty="0" err="1"/>
              <a:t>vrednostima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ne </a:t>
            </a:r>
            <a:r>
              <a:rPr lang="en-US" dirty="0" err="1"/>
              <a:t>pokrivaju</a:t>
            </a:r>
            <a:r>
              <a:rPr lang="en-US" dirty="0"/>
              <a:t> </a:t>
            </a:r>
            <a:r>
              <a:rPr lang="en-US" dirty="0" err="1"/>
              <a:t>celokupan</a:t>
            </a:r>
            <a:r>
              <a:rPr lang="en-US" dirty="0"/>
              <a:t> </a:t>
            </a:r>
            <a:r>
              <a:rPr lang="en-US" dirty="0" err="1"/>
              <a:t>opseg</a:t>
            </a:r>
            <a:r>
              <a:rPr lang="en-US" dirty="0"/>
              <a:t>. </a:t>
            </a:r>
            <a:r>
              <a:rPr lang="en-US" dirty="0" err="1"/>
              <a:t>Lokalni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i="1" dirty="0"/>
              <a:t>clickhouse-03</a:t>
            </a:r>
            <a:r>
              <a:rPr lang="en-US" dirty="0"/>
              <a:t> </a:t>
            </a:r>
            <a:r>
              <a:rPr lang="en-US" dirty="0" err="1"/>
              <a:t>vratio</a:t>
            </a:r>
            <a:r>
              <a:rPr lang="en-US" dirty="0"/>
              <a:t> je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i="1" dirty="0"/>
              <a:t>shard-a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drugačijim</a:t>
            </a:r>
            <a:r>
              <a:rPr lang="en-US" dirty="0"/>
              <a:t> </a:t>
            </a:r>
            <a:r>
              <a:rPr lang="en-US" dirty="0" err="1"/>
              <a:t>vrednostima</a:t>
            </a:r>
            <a:r>
              <a:rPr lang="en-US" dirty="0"/>
              <a:t>.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Distributed </a:t>
            </a:r>
            <a:r>
              <a:rPr lang="en-US" dirty="0" err="1"/>
              <a:t>tabeli</a:t>
            </a:r>
            <a:r>
              <a:rPr lang="en-US" dirty="0"/>
              <a:t> </a:t>
            </a:r>
            <a:r>
              <a:rPr lang="en-US" dirty="0" err="1"/>
              <a:t>vratio</a:t>
            </a:r>
            <a:r>
              <a:rPr lang="en-US" dirty="0"/>
              <a:t> je </a:t>
            </a:r>
            <a:r>
              <a:rPr lang="en-US" dirty="0" err="1"/>
              <a:t>tačne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obuhvataju</a:t>
            </a:r>
            <a:r>
              <a:rPr lang="en-US" dirty="0"/>
              <a:t> </a:t>
            </a:r>
            <a:r>
              <a:rPr lang="en-US" dirty="0" err="1"/>
              <a:t>celokupan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8BEC0-021C-D320-43F4-F69FF6FAC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29" y="3886199"/>
            <a:ext cx="10726342" cy="177626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88642D-1B04-5EFF-A7E2-79EF4CFE9AE0}"/>
              </a:ext>
            </a:extLst>
          </p:cNvPr>
          <p:cNvSpPr txBox="1">
            <a:spLocks/>
          </p:cNvSpPr>
          <p:nvPr/>
        </p:nvSpPr>
        <p:spPr>
          <a:xfrm>
            <a:off x="426067" y="4380289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eksperiment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upisivanje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lokalnih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u </a:t>
            </a:r>
            <a:r>
              <a:rPr lang="en-US" dirty="0" err="1"/>
              <a:t>distribuiranom</a:t>
            </a:r>
            <a:r>
              <a:rPr lang="en-US" dirty="0"/>
              <a:t> </a:t>
            </a:r>
            <a:r>
              <a:rPr lang="en-US" dirty="0" err="1"/>
              <a:t>okruženju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pogrešne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stanovišta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6873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8E07-5249-1B02-413F-7827F3D0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DCED-A99D-E280-9E11-D4E59AE4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Studija slučaja - </a:t>
            </a:r>
            <a:r>
              <a:rPr lang="en-US" dirty="0"/>
              <a:t>Pad Keeper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Raft </a:t>
            </a:r>
            <a:r>
              <a:rPr lang="en-US" dirty="0" err="1"/>
              <a:t>kvorum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758C-1621-7E85-AA1D-57A810CA2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573" y="3821613"/>
            <a:ext cx="11029615" cy="1910443"/>
          </a:xfrm>
        </p:spPr>
        <p:txBody>
          <a:bodyPr>
            <a:noAutofit/>
          </a:bodyPr>
          <a:lstStyle/>
          <a:p>
            <a:pPr algn="just"/>
            <a:r>
              <a:rPr lang="sr-Latn-RS" dirty="0"/>
              <a:t>Cilj - </a:t>
            </a:r>
            <a:r>
              <a:rPr lang="en-US" dirty="0" err="1"/>
              <a:t>demonstr</a:t>
            </a:r>
            <a:r>
              <a:rPr lang="sr-Latn-RS" dirty="0" err="1"/>
              <a:t>acija</a:t>
            </a:r>
            <a:r>
              <a:rPr lang="en-US" dirty="0"/>
              <a:t> Raft </a:t>
            </a:r>
            <a:r>
              <a:rPr lang="en-US" dirty="0" err="1"/>
              <a:t>kvorum</a:t>
            </a:r>
            <a:r>
              <a:rPr lang="en-US" dirty="0"/>
              <a:t> </a:t>
            </a:r>
            <a:r>
              <a:rPr lang="en-US" dirty="0" err="1"/>
              <a:t>mehaniz</a:t>
            </a:r>
            <a:r>
              <a:rPr lang="sr-Latn-RS" dirty="0"/>
              <a:t>ma.</a:t>
            </a:r>
          </a:p>
          <a:p>
            <a:pPr algn="just"/>
            <a:r>
              <a:rPr lang="en-US" dirty="0"/>
              <a:t>U </a:t>
            </a:r>
            <a:r>
              <a:rPr lang="en-US" dirty="0" err="1"/>
              <a:t>prvoj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, </a:t>
            </a:r>
            <a:r>
              <a:rPr lang="en-US" dirty="0" err="1"/>
              <a:t>jedan</a:t>
            </a:r>
            <a:r>
              <a:rPr lang="en-US" dirty="0"/>
              <a:t> od tri Keeper </a:t>
            </a:r>
            <a:r>
              <a:rPr lang="en-US" dirty="0" err="1"/>
              <a:t>čvora</a:t>
            </a:r>
            <a:r>
              <a:rPr lang="en-US" dirty="0"/>
              <a:t> (</a:t>
            </a:r>
            <a:r>
              <a:rPr lang="en-US" i="1" dirty="0"/>
              <a:t>keeper-03</a:t>
            </a:r>
            <a:r>
              <a:rPr lang="en-US" dirty="0"/>
              <a:t>) je </a:t>
            </a:r>
            <a:r>
              <a:rPr lang="en-US" dirty="0" err="1"/>
              <a:t>zaustavljen</a:t>
            </a:r>
            <a:r>
              <a:rPr lang="en-US" dirty="0"/>
              <a:t>. </a:t>
            </a:r>
            <a:r>
              <a:rPr lang="en-US" dirty="0" err="1"/>
              <a:t>Preostala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formiraju</a:t>
            </a:r>
            <a:r>
              <a:rPr lang="en-US" dirty="0"/>
              <a:t> </a:t>
            </a:r>
            <a:r>
              <a:rPr lang="en-US" dirty="0" err="1"/>
              <a:t>kvorum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Raft </a:t>
            </a:r>
            <a:r>
              <a:rPr lang="en-US" dirty="0" err="1"/>
              <a:t>klaster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nastavi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radom</a:t>
            </a:r>
            <a:r>
              <a:rPr lang="en-US" dirty="0"/>
              <a:t>. P</a:t>
            </a:r>
            <a:r>
              <a:rPr lang="sr-Latn-RS" dirty="0"/>
              <a:t>okrenute</a:t>
            </a:r>
            <a:r>
              <a:rPr lang="en-US" dirty="0"/>
              <a:t> INSERT </a:t>
            </a:r>
            <a:r>
              <a:rPr lang="en-US" dirty="0" err="1"/>
              <a:t>i</a:t>
            </a:r>
            <a:r>
              <a:rPr lang="en-US" dirty="0"/>
              <a:t> SELECT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čvorovima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se </a:t>
            </a:r>
            <a:r>
              <a:rPr lang="en-US" dirty="0" err="1"/>
              <a:t>odvijale</a:t>
            </a:r>
            <a:r>
              <a:rPr lang="en-US" dirty="0"/>
              <a:t> bez </a:t>
            </a:r>
            <a:r>
              <a:rPr lang="en-US" dirty="0" err="1"/>
              <a:t>ikakvih</a:t>
            </a:r>
            <a:r>
              <a:rPr lang="en-US" dirty="0"/>
              <a:t> </a:t>
            </a:r>
            <a:r>
              <a:rPr lang="en-US" dirty="0" err="1"/>
              <a:t>grešaka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primetnog</a:t>
            </a:r>
            <a:r>
              <a:rPr lang="en-US" dirty="0"/>
              <a:t> </a:t>
            </a:r>
            <a:r>
              <a:rPr lang="en-US" dirty="0" err="1"/>
              <a:t>usporenja</a:t>
            </a:r>
            <a:r>
              <a:rPr lang="en-US" dirty="0"/>
              <a:t>, </a:t>
            </a:r>
            <a:r>
              <a:rPr lang="en-US" dirty="0" err="1"/>
              <a:t>potvrđujući</a:t>
            </a:r>
            <a:r>
              <a:rPr lang="en-US" dirty="0"/>
              <a:t> da </a:t>
            </a:r>
            <a:r>
              <a:rPr lang="en-US" dirty="0" err="1"/>
              <a:t>sistem</a:t>
            </a:r>
            <a:r>
              <a:rPr lang="en-US" dirty="0"/>
              <a:t> u </a:t>
            </a:r>
            <a:r>
              <a:rPr lang="en-US" dirty="0" err="1"/>
              <a:t>celosti</a:t>
            </a:r>
            <a:r>
              <a:rPr lang="en-US" dirty="0"/>
              <a:t> </a:t>
            </a:r>
            <a:r>
              <a:rPr lang="en-US" dirty="0" err="1"/>
              <a:t>toleriše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Keeper </a:t>
            </a:r>
            <a:r>
              <a:rPr lang="en-US" dirty="0" err="1"/>
              <a:t>čvora</a:t>
            </a:r>
            <a:r>
              <a:rPr lang="en-US" dirty="0"/>
              <a:t>.</a:t>
            </a:r>
            <a:endParaRPr lang="sr-Latn-RS" dirty="0"/>
          </a:p>
          <a:p>
            <a:pPr algn="just"/>
            <a:r>
              <a:rPr lang="en-US" dirty="0"/>
              <a:t>U </a:t>
            </a:r>
            <a:r>
              <a:rPr lang="en-US" dirty="0" err="1"/>
              <a:t>drugoj</a:t>
            </a:r>
            <a:r>
              <a:rPr lang="en-US" dirty="0"/>
              <a:t> </a:t>
            </a:r>
            <a:r>
              <a:rPr lang="en-US" dirty="0" err="1"/>
              <a:t>fazi</a:t>
            </a:r>
            <a:r>
              <a:rPr lang="en-US" dirty="0"/>
              <a:t>, </a:t>
            </a:r>
            <a:r>
              <a:rPr lang="en-US" dirty="0" err="1"/>
              <a:t>zaustavljen</a:t>
            </a:r>
            <a:r>
              <a:rPr lang="en-US" dirty="0"/>
              <a:t> je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Keeper </a:t>
            </a:r>
            <a:r>
              <a:rPr lang="en-US" dirty="0" err="1"/>
              <a:t>čvor</a:t>
            </a:r>
            <a:r>
              <a:rPr lang="en-US" dirty="0"/>
              <a:t> (</a:t>
            </a:r>
            <a:r>
              <a:rPr lang="en-US" i="1" dirty="0"/>
              <a:t>keeper-02</a:t>
            </a:r>
            <a:r>
              <a:rPr lang="en-US" dirty="0"/>
              <a:t>). Sa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jednim</a:t>
            </a:r>
            <a:r>
              <a:rPr lang="en-US" dirty="0"/>
              <a:t> </a:t>
            </a:r>
            <a:r>
              <a:rPr lang="en-US" dirty="0" err="1"/>
              <a:t>aktivnim</a:t>
            </a:r>
            <a:r>
              <a:rPr lang="en-US" dirty="0"/>
              <a:t> Keeper </a:t>
            </a:r>
            <a:r>
              <a:rPr lang="en-US" dirty="0" err="1"/>
              <a:t>čvorom</a:t>
            </a:r>
            <a:r>
              <a:rPr lang="en-US" dirty="0"/>
              <a:t>,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postići</a:t>
            </a:r>
            <a:r>
              <a:rPr lang="en-US" dirty="0"/>
              <a:t> </a:t>
            </a:r>
            <a:r>
              <a:rPr lang="en-US" dirty="0" err="1"/>
              <a:t>kvorum</a:t>
            </a:r>
            <a:r>
              <a:rPr lang="en-US" dirty="0"/>
              <a:t>. </a:t>
            </a:r>
            <a:r>
              <a:rPr lang="sr-Latn-RS" dirty="0"/>
              <a:t>Pokrenute</a:t>
            </a:r>
            <a:r>
              <a:rPr lang="en-US" dirty="0"/>
              <a:t> INSERT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grešku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ukazuje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nedostupnost</a:t>
            </a:r>
            <a:r>
              <a:rPr lang="en-US" dirty="0"/>
              <a:t> </a:t>
            </a:r>
            <a:r>
              <a:rPr lang="en-US" dirty="0" err="1"/>
              <a:t>koordinacionog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sr-Latn-RS" dirty="0"/>
              <a:t>. Me</a:t>
            </a:r>
            <a:r>
              <a:rPr lang="en-US" dirty="0" err="1"/>
              <a:t>đutim</a:t>
            </a:r>
            <a:r>
              <a:rPr lang="en-US" dirty="0"/>
              <a:t>, SELECT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vraćale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,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bez </a:t>
            </a:r>
            <a:r>
              <a:rPr lang="en-US" dirty="0" err="1"/>
              <a:t>potrebe</a:t>
            </a:r>
            <a:r>
              <a:rPr lang="en-US" dirty="0"/>
              <a:t> za </a:t>
            </a:r>
            <a:r>
              <a:rPr lang="en-US" dirty="0" err="1"/>
              <a:t>koordinacijom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ponovnog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oba Keeper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uspostavljanja</a:t>
            </a:r>
            <a:r>
              <a:rPr lang="en-US" dirty="0"/>
              <a:t> </a:t>
            </a:r>
            <a:r>
              <a:rPr lang="en-US" dirty="0" err="1"/>
              <a:t>kvoruma</a:t>
            </a:r>
            <a:r>
              <a:rPr lang="en-US" dirty="0"/>
              <a:t>, INSERT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se </a:t>
            </a:r>
            <a:r>
              <a:rPr lang="en-US" dirty="0" err="1"/>
              <a:t>normalizovale</a:t>
            </a:r>
            <a:r>
              <a:rPr lang="en-US" dirty="0"/>
              <a:t> bez </a:t>
            </a:r>
            <a:r>
              <a:rPr lang="en-US" dirty="0" err="1"/>
              <a:t>ikakve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konfiguracije</a:t>
            </a:r>
            <a:r>
              <a:rPr lang="en-US" dirty="0"/>
              <a:t>.</a:t>
            </a:r>
          </a:p>
          <a:p>
            <a:r>
              <a:rPr lang="en-US" dirty="0"/>
              <a:t>Scenario </a:t>
            </a:r>
            <a:r>
              <a:rPr lang="en-US" dirty="0" err="1"/>
              <a:t>praktično</a:t>
            </a:r>
            <a:r>
              <a:rPr lang="en-US" dirty="0"/>
              <a:t> </a:t>
            </a:r>
            <a:r>
              <a:rPr lang="en-US" dirty="0" err="1"/>
              <a:t>demonstrira</a:t>
            </a:r>
            <a:r>
              <a:rPr lang="en-US" dirty="0"/>
              <a:t> </a:t>
            </a:r>
            <a:r>
              <a:rPr lang="en-US" dirty="0" err="1"/>
              <a:t>teorijsku</a:t>
            </a:r>
            <a:r>
              <a:rPr lang="en-US" dirty="0"/>
              <a:t> </a:t>
            </a:r>
            <a:r>
              <a:rPr lang="en-US" dirty="0" err="1"/>
              <a:t>granicu</a:t>
            </a:r>
            <a:r>
              <a:rPr lang="en-US" dirty="0"/>
              <a:t> Raft </a:t>
            </a:r>
            <a:r>
              <a:rPr lang="en-US" dirty="0" err="1"/>
              <a:t>algoritma</a:t>
            </a:r>
            <a:r>
              <a:rPr lang="en-US" dirty="0"/>
              <a:t>.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/>
              <a:t>kvoruma</a:t>
            </a:r>
            <a:r>
              <a:rPr lang="en-US" dirty="0"/>
              <a:t> ne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niti</a:t>
            </a:r>
            <a:r>
              <a:rPr lang="en-US" dirty="0"/>
              <a:t> </a:t>
            </a:r>
            <a:r>
              <a:rPr lang="en-US" dirty="0" err="1"/>
              <a:t>nedostupnost</a:t>
            </a:r>
            <a:r>
              <a:rPr lang="en-US" dirty="0"/>
              <a:t> </a:t>
            </a:r>
            <a:r>
              <a:rPr lang="en-US" dirty="0" err="1"/>
              <a:t>čitanja</a:t>
            </a:r>
            <a:r>
              <a:rPr lang="en-US" dirty="0"/>
              <a:t>, </a:t>
            </a:r>
            <a:r>
              <a:rPr lang="en-US" dirty="0" err="1"/>
              <a:t>dostupnost</a:t>
            </a:r>
            <a:r>
              <a:rPr lang="en-US" dirty="0"/>
              <a:t> za </a:t>
            </a:r>
            <a:r>
              <a:rPr lang="en-US" dirty="0" err="1"/>
              <a:t>operacije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ne </a:t>
            </a:r>
            <a:r>
              <a:rPr lang="en-US" dirty="0" err="1"/>
              <a:t>zahtevaju</a:t>
            </a:r>
            <a:r>
              <a:rPr lang="en-US" dirty="0"/>
              <a:t> </a:t>
            </a:r>
            <a:r>
              <a:rPr lang="en-US" dirty="0" err="1"/>
              <a:t>koordinaciju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sr-Latn-R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71053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4272</TotalTime>
  <Words>1710</Words>
  <Application>Microsoft Office PowerPoint</Application>
  <PresentationFormat>Widescreen</PresentationFormat>
  <Paragraphs>115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Gill Sans MT</vt:lpstr>
      <vt:lpstr>Wingdings 2</vt:lpstr>
      <vt:lpstr>Dividend</vt:lpstr>
      <vt:lpstr>Replikacija podataka i visoka dostupnost u Clickhouse sistemu</vt:lpstr>
      <vt:lpstr>Replikacija u Clickhouse sistemu</vt:lpstr>
      <vt:lpstr>Replikacija u Clickhouse sistemu - replicatedMergetree</vt:lpstr>
      <vt:lpstr>Replikacija u Clickhouse sistemu - replicatedMergetree</vt:lpstr>
      <vt:lpstr>Koordinacija replika - Clickhouse keeper</vt:lpstr>
      <vt:lpstr>Koordinacija replika – raft algoritam</vt:lpstr>
      <vt:lpstr>Koordinacija replika – Tok replikacije</vt:lpstr>
      <vt:lpstr>Mehanizmi resinhronizacije – replikacioni log</vt:lpstr>
      <vt:lpstr>Konzistentnost i dostupnost</vt:lpstr>
      <vt:lpstr>Distribuirana arhitektura</vt:lpstr>
      <vt:lpstr>Studija slučaja</vt:lpstr>
      <vt:lpstr>Studija slučaja - Osnovna replikacija</vt:lpstr>
      <vt:lpstr>Studija slučaja - Osnovna replikacija</vt:lpstr>
      <vt:lpstr>Studija slučaja - Osnovna replikacija</vt:lpstr>
      <vt:lpstr>Studija slučaja - Pad replike i resinhronizacija</vt:lpstr>
      <vt:lpstr>Studija slučaja - Quorum inserts</vt:lpstr>
      <vt:lpstr>Studija slučaja - Distribuirani upiti i sharding</vt:lpstr>
      <vt:lpstr>Studija slučaja - Distribuirani upiti i sharding</vt:lpstr>
      <vt:lpstr>Studija slučaja - Pad Keeper čvora i Raft kvorum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 Tonsa Milovanović</dc:creator>
  <cp:lastModifiedBy>Anja Tonsa Milovanović</cp:lastModifiedBy>
  <cp:revision>58</cp:revision>
  <dcterms:created xsi:type="dcterms:W3CDTF">2026-04-25T17:17:23Z</dcterms:created>
  <dcterms:modified xsi:type="dcterms:W3CDTF">2026-05-31T12:53:23Z</dcterms:modified>
</cp:coreProperties>
</file>